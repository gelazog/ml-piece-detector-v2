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3987E5"/>
                </a:solidFill>
                <a:latin typeface="Segoe UI"/>
              </a:rPr>
              <a:t>INSPECCIÓN VISUAL INDUSTRIAL 2D · 100 % OFFLINE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9601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800" b="0" i="0">
                <a:solidFill>
                  <a:srgbClr val="FFFFFF"/>
                </a:solidFill>
                <a:latin typeface="Segoe UI Light"/>
              </a:rPr>
              <a:t>PC Inspector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017520"/>
            <a:ext cx="8138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700" b="0" i="0">
                <a:solidFill>
                  <a:srgbClr val="C3C2B7"/>
                </a:solidFill>
                <a:latin typeface="Segoe UI"/>
              </a:rPr>
              <a:t>Una PC, una webcam y la pieza buena como patrón. Mide, compara y da un veredicto OK/NG — sin nube, sin GPU y sin etiquetar un solo defecto.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4434840"/>
            <a:ext cx="10637215" cy="0"/>
          </a:xfrm>
          <a:prstGeom prst="line">
            <a:avLst/>
          </a:prstGeom>
          <a:ln w="12700">
            <a:solidFill>
              <a:srgbClr val="2C2C2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4709160"/>
            <a:ext cx="26593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Segoe UI Light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85232"/>
            <a:ext cx="229354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C3C2B7"/>
                </a:solidFill>
                <a:latin typeface="Segoe UI"/>
              </a:rPr>
              <a:t>herramientas
de medición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36543" y="4709160"/>
            <a:ext cx="26593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Segoe UI Light"/>
              </a:rPr>
              <a:t>969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36543" y="5285232"/>
            <a:ext cx="229354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C3C2B7"/>
                </a:solidFill>
                <a:latin typeface="Segoe UI"/>
              </a:rPr>
              <a:t>pruebas
automáticas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7" y="4709160"/>
            <a:ext cx="26593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Segoe UI Light"/>
              </a:rPr>
              <a:t>0 €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5847" y="5285232"/>
            <a:ext cx="229354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C3C2B7"/>
                </a:solidFill>
                <a:latin typeface="Segoe UI"/>
              </a:rPr>
              <a:t>de licencia
de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55151" y="4709160"/>
            <a:ext cx="26593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Segoe UI Light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55151" y="5285232"/>
            <a:ext cx="229354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C3C2B7"/>
                </a:solidFill>
                <a:latin typeface="Segoe UI"/>
              </a:rPr>
              <a:t>conexión
a internet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080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C3C2B7"/>
                </a:solidFill>
                <a:latin typeface="Segoe UI"/>
              </a:rPr>
              <a:t>C++20 · Qt 6 Widgets · OpenCV · ONNX Runtime · SQLite   |   agosto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256ABF"/>
                </a:solidFill>
                <a:latin typeface="Segoe UI"/>
              </a:rPr>
              <a:t>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100" b="0" i="0">
                <a:solidFill>
                  <a:srgbClr val="0B0B0B"/>
                </a:solidFill>
                <a:latin typeface="Segoe UI Light"/>
              </a:rPr>
              <a:t>Medir bien cuesta demasiado para quien más lo necesita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664208"/>
            <a:ext cx="10637215" cy="0"/>
          </a:xfrm>
          <a:prstGeom prst="line">
            <a:avLst/>
          </a:prstGeom>
          <a:ln w="12700">
            <a:solidFill>
              <a:srgbClr val="E1E0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777240" y="1874519"/>
            <a:ext cx="3362858" cy="2788920"/>
          </a:xfrm>
          <a:prstGeom prst="rect">
            <a:avLst/>
          </a:prstGeom>
          <a:solidFill>
            <a:srgbClr val="F4F3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41148" cy="2788920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88136" y="2112263"/>
            <a:ext cx="279593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Segoe UI"/>
              </a:rPr>
              <a:t>La licencia cuesta más
que la serie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2807207"/>
            <a:ext cx="279593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Segoe UI"/>
              </a:rPr>
              <a:t>Una estación de visión comercial se mueve en miles a decenas de miles de euros por puesto, más runtime y mantenimiento. Un taller que inspecciona lotes cortos nunca la amortiza.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14418" y="1874519"/>
            <a:ext cx="3362858" cy="2788920"/>
          </a:xfrm>
          <a:prstGeom prst="rect">
            <a:avLst/>
          </a:prstGeom>
          <a:solidFill>
            <a:srgbClr val="F4F3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414418" y="1874519"/>
            <a:ext cx="41148" cy="2788920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725314" y="2112263"/>
            <a:ext cx="279593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Segoe UI"/>
              </a:rPr>
              <a:t>El hardware es
propietario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5314" y="2807207"/>
            <a:ext cx="279593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Segoe UI"/>
              </a:rPr>
              <a:t>Cámara industrial, óptica, controlador y a veces un dongle. La PC que ya está en el taller no sirve: hay que comprar la del fabricante.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51596" y="1874519"/>
            <a:ext cx="3362858" cy="2788920"/>
          </a:xfrm>
          <a:prstGeom prst="rect">
            <a:avLst/>
          </a:prstGeom>
          <a:solidFill>
            <a:srgbClr val="F4F3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051596" y="1874519"/>
            <a:ext cx="41148" cy="2788920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362492" y="2112263"/>
            <a:ext cx="279593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Segoe UI"/>
              </a:rPr>
              <a:t>El aprendizaje profundo
pide defectos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2492" y="2807207"/>
            <a:ext cx="279593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Segoe UI"/>
              </a:rPr>
              <a:t>Los módulos de deep learning necesitan cientos de ejemplos etiquetados, fallos incluidos — justo lo que una línea que funciona bien no tiene.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983480"/>
            <a:ext cx="10637215" cy="713232"/>
          </a:xfrm>
          <a:prstGeom prst="rect">
            <a:avLst/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88136" y="5038344"/>
            <a:ext cx="1001542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52514E"/>
                </a:solidFill>
                <a:latin typeface="Segoe UI"/>
              </a:rPr>
              <a:t>Consecuencia: se mide con calibre, a mano, el resultado depende de quién esté ese día, y no queda registro de nada.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Segoe UI"/>
              </a:rPr>
              <a:t>PC Inspector — inspección visual industrial offline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5655" y="6382512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Segoe UI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256ABF"/>
                </a:solidFill>
                <a:latin typeface="Segoe UI"/>
              </a:rPr>
              <a:t>LA PROPUESTA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100" b="0" i="0">
                <a:solidFill>
                  <a:srgbClr val="0B0B0B"/>
                </a:solidFill>
                <a:latin typeface="Segoe UI Light"/>
              </a:rPr>
              <a:t>Una PC, una webcam y la pieza buena como patrón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664208"/>
            <a:ext cx="10637215" cy="0"/>
          </a:xfrm>
          <a:prstGeom prst="line">
            <a:avLst/>
          </a:prstGeom>
          <a:ln w="12700">
            <a:solidFill>
              <a:srgbClr val="E1E0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874519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56ABF"/>
                </a:solidFill>
                <a:latin typeface="Segoe UI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1874519"/>
            <a:ext cx="4581144" cy="6957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 i="0">
                <a:solidFill>
                  <a:srgbClr val="0B0B0B"/>
                </a:solidFill>
                <a:latin typeface="Segoe UI"/>
              </a:rPr>
              <a:t>Se le enseña una pieza correcta </a:t>
            </a:r>
            <a:r>
              <a:rPr sz="1300" b="0" i="0">
                <a:solidFill>
                  <a:srgbClr val="52514E"/>
                </a:solidFill>
                <a:latin typeface="Segoe UI"/>
              </a:rPr>
              <a:t>— teach-in, unas 30 muestras — y queda como referencia. No se etiqueta ni un solo defecto.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34817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56ABF"/>
                </a:solidFill>
                <a:latin typeface="Segoe UI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2734817"/>
            <a:ext cx="4581144" cy="6957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 i="0">
                <a:solidFill>
                  <a:srgbClr val="0B0B0B"/>
                </a:solidFill>
                <a:latin typeface="Segoe UI"/>
              </a:rPr>
              <a:t>Sobre ella se dibujan las cotas, </a:t>
            </a:r>
            <a:r>
              <a:rPr sz="1300" b="0" i="0">
                <a:solidFill>
                  <a:srgbClr val="52514E"/>
                </a:solidFill>
                <a:latin typeface="Segoe UI"/>
              </a:rPr>
              <a:t>que quedan ancladas a la pieza: si llega girada o descentrada, se mueven con ella.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595115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56ABF"/>
                </a:solidFill>
                <a:latin typeface="Segoe UI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" y="3595115"/>
            <a:ext cx="4581144" cy="6957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 i="0">
                <a:solidFill>
                  <a:srgbClr val="0B0B0B"/>
                </a:solidFill>
                <a:latin typeface="Segoe UI"/>
              </a:rPr>
              <a:t>Cada pieza nueva recibe OK/NG </a:t>
            </a:r>
            <a:r>
              <a:rPr sz="1300" b="0" i="0">
                <a:solidFill>
                  <a:srgbClr val="52514E"/>
                </a:solidFill>
                <a:latin typeface="Segoe UI"/>
              </a:rPr>
              <a:t>con el detalle de qué medida falló y por qué, más historial y estadísticas por día.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55413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56ABF"/>
                </a:solidFill>
                <a:latin typeface="Segoe U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4455413"/>
            <a:ext cx="4581144" cy="4942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 i="0">
                <a:solidFill>
                  <a:srgbClr val="0B0B0B"/>
                </a:solidFill>
                <a:latin typeface="Segoe UI"/>
              </a:rPr>
              <a:t>Todo local. </a:t>
            </a:r>
            <a:r>
              <a:rPr sz="1300" b="0" i="0">
                <a:solidFill>
                  <a:srgbClr val="52514E"/>
                </a:solidFill>
                <a:latin typeface="Segoe UI"/>
              </a:rPr>
              <a:t>Sin nube, sin internet, sin servidor: SQLite en un fichero junto al ejecutable.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114289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56ABF"/>
                </a:solidFill>
                <a:latin typeface="Segoe UI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5114289"/>
            <a:ext cx="4581144" cy="4942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 i="0">
                <a:solidFill>
                  <a:srgbClr val="0B0B0B"/>
                </a:solidFill>
                <a:latin typeface="Segoe UI"/>
              </a:rPr>
              <a:t>Windows y Linux con un solo código, </a:t>
            </a:r>
            <a:r>
              <a:rPr sz="1300" b="0" i="0">
                <a:solidFill>
                  <a:srgbClr val="52514E"/>
                </a:solidFill>
                <a:latin typeface="Segoe UI"/>
              </a:rPr>
              <a:t>en un paquete portable de ~178 MB que arranca sin instalar nada.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7240" y="5138928"/>
            <a:ext cx="4892040" cy="0"/>
          </a:xfrm>
          <a:prstGeom prst="line">
            <a:avLst/>
          </a:prstGeom>
          <a:ln w="12700">
            <a:solidFill>
              <a:srgbClr val="E1E0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7240" y="5321808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0B0B0B"/>
                </a:solidFill>
                <a:latin typeface="Segoe UI"/>
              </a:rPr>
              <a:t>Dónde encaja: </a:t>
            </a:r>
            <a:r>
              <a:rPr sz="1200" b="0" i="0">
                <a:solidFill>
                  <a:srgbClr val="52514E"/>
                </a:solidFill>
                <a:latin typeface="Segoe UI"/>
              </a:rPr>
              <a:t>PYME metalmecánica · taller de mecanizado · control de recepción de lotes · laboratorio y formación.</a:t>
            </a:r>
          </a:p>
        </p:txBody>
      </p:sp>
      <p:pic>
        <p:nvPicPr>
          <p:cNvPr id="17" name="Picture 16" descr="02_deteccion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783079"/>
            <a:ext cx="5715000" cy="3700220"/>
          </a:xfrm>
          <a:prstGeom prst="rect">
            <a:avLst/>
          </a:prstGeom>
          <a:ln w="9525">
            <a:solidFill>
              <a:srgbClr val="E1E0D9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6126480" y="5602171"/>
            <a:ext cx="5715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Segoe UI"/>
              </a:rPr>
              <a:t>Captura real: contorno, centro y eje detectados sobre una imagen abierta desde disco — el mismo camino que con la cámara en vivo.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Segoe UI"/>
              </a:rPr>
              <a:t>PC Inspector — inspección visual industrial offline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5655" y="6382512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Segoe UI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256ABF"/>
                </a:solidFill>
                <a:latin typeface="Segoe UI"/>
              </a:rPr>
              <a:t>CÓMO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100" b="0" i="0">
                <a:solidFill>
                  <a:srgbClr val="0B0B0B"/>
                </a:solidFill>
                <a:latin typeface="Segoe UI Light"/>
              </a:rPr>
              <a:t>El recorrido de un frame, de la cámara al veredicto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664208"/>
            <a:ext cx="10637215" cy="0"/>
          </a:xfrm>
          <a:prstGeom prst="line">
            <a:avLst/>
          </a:prstGeom>
          <a:ln w="12700">
            <a:solidFill>
              <a:srgbClr val="E1E0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810512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Segoe UI"/>
              </a:rPr>
              <a:t>Visión clásica para localizar y medir. Una red congelada solo para comparar apariencia.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95728"/>
            <a:ext cx="2003084" cy="566928"/>
          </a:xfrm>
          <a:prstGeom prst="rect">
            <a:avLst/>
          </a:prstGeom>
          <a:solidFill>
            <a:srgbClr val="F4F3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86968" y="2487168"/>
            <a:ext cx="17836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B0B0B"/>
                </a:solidFill>
                <a:latin typeface="Segoe UI"/>
              </a:rPr>
              <a:t>Captura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697480"/>
            <a:ext cx="1783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Segoe UI"/>
              </a:rPr>
              <a:t>cámara · imagen · vídeo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07756" y="2679192"/>
            <a:ext cx="100584" cy="0"/>
          </a:xfrm>
          <a:prstGeom prst="line">
            <a:avLst/>
          </a:prstGeom>
          <a:ln w="15875">
            <a:solidFill>
              <a:srgbClr val="8987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935772" y="2395728"/>
            <a:ext cx="2003084" cy="566928"/>
          </a:xfrm>
          <a:prstGeom prst="rect">
            <a:avLst/>
          </a:prstGeom>
          <a:solidFill>
            <a:srgbClr val="F4F3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045500" y="2487168"/>
            <a:ext cx="17836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B0B0B"/>
                </a:solidFill>
                <a:latin typeface="Segoe UI"/>
              </a:rPr>
              <a:t>Zona de trabajo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5500" y="2697480"/>
            <a:ext cx="1783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Segoe UI"/>
              </a:rPr>
              <a:t>recorte que sigue a la pieza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966288" y="2679192"/>
            <a:ext cx="100584" cy="0"/>
          </a:xfrm>
          <a:prstGeom prst="line">
            <a:avLst/>
          </a:prstGeom>
          <a:ln w="15875">
            <a:solidFill>
              <a:srgbClr val="8987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094305" y="2395728"/>
            <a:ext cx="2003084" cy="566928"/>
          </a:xfrm>
          <a:prstGeom prst="rect">
            <a:avLst/>
          </a:prstGeom>
          <a:solidFill>
            <a:srgbClr val="F4F3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204033" y="2487168"/>
            <a:ext cx="17836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B0B0B"/>
                </a:solidFill>
                <a:latin typeface="Segoe UI"/>
              </a:rPr>
              <a:t>Segmentación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4033" y="2697480"/>
            <a:ext cx="1783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Segoe UI"/>
              </a:rPr>
              <a:t>Otsu + morfología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24821" y="2679192"/>
            <a:ext cx="100584" cy="0"/>
          </a:xfrm>
          <a:prstGeom prst="line">
            <a:avLst/>
          </a:prstGeom>
          <a:ln w="15875">
            <a:solidFill>
              <a:srgbClr val="8987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252837" y="2395728"/>
            <a:ext cx="2003084" cy="566928"/>
          </a:xfrm>
          <a:prstGeom prst="rect">
            <a:avLst/>
          </a:prstGeom>
          <a:solidFill>
            <a:srgbClr val="F4F3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62565" y="2487168"/>
            <a:ext cx="17836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B0B0B"/>
                </a:solidFill>
                <a:latin typeface="Segoe UI"/>
              </a:rPr>
              <a:t>Contorno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2565" y="2697480"/>
            <a:ext cx="1783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Segoe UI"/>
              </a:rPr>
              <a:t>seguimiento de bordes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283353" y="2679192"/>
            <a:ext cx="100584" cy="0"/>
          </a:xfrm>
          <a:prstGeom prst="line">
            <a:avLst/>
          </a:prstGeom>
          <a:ln w="15875">
            <a:solidFill>
              <a:srgbClr val="8987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9411370" y="2395728"/>
            <a:ext cx="2003084" cy="566928"/>
          </a:xfrm>
          <a:prstGeom prst="rect">
            <a:avLst/>
          </a:prstGeom>
          <a:solidFill>
            <a:srgbClr val="F4F3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521098" y="2487168"/>
            <a:ext cx="17836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B0B0B"/>
                </a:solidFill>
                <a:latin typeface="Segoe UI"/>
              </a:rPr>
              <a:t>Position Fixture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1098" y="2697480"/>
            <a:ext cx="17836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Segoe UI"/>
              </a:rPr>
              <a:t>momentos de imagen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412912" y="2962656"/>
            <a:ext cx="0" cy="210312"/>
          </a:xfrm>
          <a:prstGeom prst="line">
            <a:avLst/>
          </a:prstGeom>
          <a:ln w="15875">
            <a:solidFill>
              <a:srgbClr val="8987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095847" y="3172968"/>
            <a:ext cx="4317065" cy="0"/>
          </a:xfrm>
          <a:prstGeom prst="line">
            <a:avLst/>
          </a:prstGeom>
          <a:ln w="15875">
            <a:solidFill>
              <a:srgbClr val="8987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5847" y="3172968"/>
            <a:ext cx="0" cy="210312"/>
          </a:xfrm>
          <a:prstGeom prst="line">
            <a:avLst/>
          </a:prstGeom>
          <a:ln w="15875">
            <a:solidFill>
              <a:srgbClr val="8987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4587087" y="3383280"/>
            <a:ext cx="3017520" cy="566928"/>
          </a:xfrm>
          <a:prstGeom prst="rect">
            <a:avLst/>
          </a:prstGeom>
          <a:solidFill>
            <a:srgbClr val="CDE2FB"/>
          </a:solidFill>
          <a:ln w="9525">
            <a:solidFill>
              <a:srgbClr val="86B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715103" y="3474720"/>
            <a:ext cx="2761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B0B0B"/>
                </a:solidFill>
                <a:latin typeface="Segoe UI"/>
              </a:rPr>
              <a:t>Recorte canónico 256×256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15103" y="3685032"/>
            <a:ext cx="27614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14E"/>
                </a:solidFill>
                <a:latin typeface="Segoe UI"/>
              </a:rPr>
              <a:t>sin fondo, orientado por el fixture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847" y="3950208"/>
            <a:ext cx="0" cy="228600"/>
          </a:xfrm>
          <a:prstGeom prst="line">
            <a:avLst/>
          </a:prstGeom>
          <a:ln w="15875">
            <a:solidFill>
              <a:srgbClr val="8987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690975" y="4178808"/>
            <a:ext cx="4809744" cy="0"/>
          </a:xfrm>
          <a:prstGeom prst="line">
            <a:avLst/>
          </a:prstGeom>
          <a:ln w="15875">
            <a:solidFill>
              <a:srgbClr val="8987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690975" y="4178808"/>
            <a:ext cx="0" cy="228600"/>
          </a:xfrm>
          <a:prstGeom prst="line">
            <a:avLst/>
          </a:prstGeom>
          <a:ln w="15875">
            <a:solidFill>
              <a:srgbClr val="8987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500719" y="4178808"/>
            <a:ext cx="0" cy="228600"/>
          </a:xfrm>
          <a:prstGeom prst="line">
            <a:avLst/>
          </a:prstGeom>
          <a:ln w="15875">
            <a:solidFill>
              <a:srgbClr val="8987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633575" y="4407408"/>
            <a:ext cx="4114800" cy="749808"/>
          </a:xfrm>
          <a:prstGeom prst="rect">
            <a:avLst/>
          </a:prstGeom>
          <a:solidFill>
            <a:srgbClr val="FCFCFB"/>
          </a:solidFill>
          <a:ln w="15875">
            <a:solidFill>
              <a:srgbClr val="256A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779879" y="4517136"/>
            <a:ext cx="3822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56ABF"/>
                </a:solidFill>
                <a:latin typeface="Segoe UI"/>
              </a:rPr>
              <a:t>Rama apariencia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79879" y="4745736"/>
            <a:ext cx="38221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52514E"/>
                </a:solidFill>
                <a:latin typeface="Segoe UI"/>
              </a:rPr>
              <a:t>embedding de 1280 dimensiones · similitud coseno contra la referencia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3319" y="4407408"/>
            <a:ext cx="4114800" cy="749808"/>
          </a:xfrm>
          <a:prstGeom prst="rect">
            <a:avLst/>
          </a:prstGeom>
          <a:solidFill>
            <a:srgbClr val="FCFCFB"/>
          </a:solidFill>
          <a:ln w="15875">
            <a:solidFill>
              <a:srgbClr val="256A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589623" y="4517136"/>
            <a:ext cx="3822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56ABF"/>
                </a:solidFill>
                <a:latin typeface="Segoe UI"/>
              </a:rPr>
              <a:t>Rama herramientas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9623" y="4745736"/>
            <a:ext cx="38221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52514E"/>
                </a:solidFill>
                <a:latin typeface="Segoe UI"/>
              </a:rPr>
              <a:t>32 herramientas ancladas al fixture · repartidas entre núcleos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690975" y="5157216"/>
            <a:ext cx="0" cy="228600"/>
          </a:xfrm>
          <a:prstGeom prst="line">
            <a:avLst/>
          </a:prstGeom>
          <a:ln w="15875">
            <a:solidFill>
              <a:srgbClr val="8987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500719" y="5157216"/>
            <a:ext cx="0" cy="228600"/>
          </a:xfrm>
          <a:prstGeom prst="line">
            <a:avLst/>
          </a:prstGeom>
          <a:ln w="15875">
            <a:solidFill>
              <a:srgbClr val="8987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690975" y="5385816"/>
            <a:ext cx="4809744" cy="0"/>
          </a:xfrm>
          <a:prstGeom prst="line">
            <a:avLst/>
          </a:prstGeom>
          <a:ln w="15875">
            <a:solidFill>
              <a:srgbClr val="8987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095847" y="5385816"/>
            <a:ext cx="0" cy="228600"/>
          </a:xfrm>
          <a:prstGeom prst="line">
            <a:avLst/>
          </a:prstGeom>
          <a:ln w="15875">
            <a:solidFill>
              <a:srgbClr val="8987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3626967" y="5614416"/>
            <a:ext cx="4937760" cy="640080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3773271" y="5715000"/>
            <a:ext cx="46451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Veredicto OK / NG  —  y por qué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73271" y="5961888"/>
            <a:ext cx="46451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C3C2B7"/>
                </a:solidFill>
                <a:latin typeface="Segoe UI"/>
              </a:rPr>
              <a:t>apariencia + herramientas + posición + recuento   →   SQLite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Segoe UI"/>
              </a:rPr>
              <a:t>PC Inspector — inspección visual industrial offline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85655" y="6382512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Segoe UI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256ABF"/>
                </a:solidFill>
                <a:latin typeface="Segoe UI"/>
              </a:rPr>
              <a:t>MEDIR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100" b="0" i="0">
                <a:solidFill>
                  <a:srgbClr val="0B0B0B"/>
                </a:solidFill>
                <a:latin typeface="Segoe UI Light"/>
              </a:rPr>
              <a:t>32 herramientas ancladas a la pieza, no a la imagen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664208"/>
            <a:ext cx="10637215" cy="0"/>
          </a:xfrm>
          <a:prstGeom prst="line">
            <a:avLst/>
          </a:prstGeom>
          <a:ln w="12700">
            <a:solidFill>
              <a:srgbClr val="E1E0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874519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56ABF"/>
                </a:solidFill>
                <a:latin typeface="Segoe UI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1874519"/>
            <a:ext cx="4581144" cy="4942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 i="0">
                <a:solidFill>
                  <a:srgbClr val="0B0B0B"/>
                </a:solidFill>
                <a:latin typeface="Segoe UI"/>
              </a:rPr>
              <a:t>Cinco familias: </a:t>
            </a:r>
            <a:r>
              <a:rPr sz="1300" b="0" i="0">
                <a:solidFill>
                  <a:srgbClr val="52514E"/>
                </a:solidFill>
                <a:latin typeface="Segoe UI"/>
              </a:rPr>
              <a:t>figuras básicas, medición en línea, elementos construidos, GD&amp;T y piezas torneadas.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33395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56ABF"/>
                </a:solidFill>
                <a:latin typeface="Segoe UI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2533395"/>
            <a:ext cx="4581144" cy="6957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 i="0">
                <a:solidFill>
                  <a:srgbClr val="0B0B0B"/>
                </a:solidFill>
                <a:latin typeface="Segoe UI"/>
              </a:rPr>
              <a:t>El Caliper localiza los dos bordes </a:t>
            </a:r>
            <a:r>
              <a:rPr sz="1300" b="0" i="0">
                <a:solidFill>
                  <a:srgbClr val="52514E"/>
                </a:solidFill>
                <a:latin typeface="Segoe UI"/>
              </a:rPr>
              <a:t>por perfil de intensidad y los refina a subpíxel. En la captura mide 50,0 px y propone la tolerancia ±10 % solo.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93693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56ABF"/>
                </a:solidFill>
                <a:latin typeface="Segoe UI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" y="3393693"/>
            <a:ext cx="4581144" cy="897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 i="0">
                <a:solidFill>
                  <a:srgbClr val="0B0B0B"/>
                </a:solidFill>
                <a:latin typeface="Segoe UI"/>
              </a:rPr>
              <a:t>GD&amp;T por zona mínima, no por mínimos cuadrados: </a:t>
            </a:r>
            <a:r>
              <a:rPr sz="1300" b="0" i="0">
                <a:solidFill>
                  <a:srgbClr val="52514E"/>
                </a:solidFill>
                <a:latin typeface="Segoe UI"/>
              </a:rPr>
              <a:t>la norma define el ancho de la banda más estrecha. En un barrido, la zona mínima gana en 200 de 200 nubes de puntos.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55413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56ABF"/>
                </a:solidFill>
                <a:latin typeface="Segoe U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4455413"/>
            <a:ext cx="4581144" cy="4942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 i="0">
                <a:solidFill>
                  <a:srgbClr val="0B0B0B"/>
                </a:solidFill>
                <a:latin typeface="Segoe UI"/>
              </a:rPr>
              <a:t>La misma barra a 0°, 20°, 45°, 70° y 120° </a:t>
            </a:r>
            <a:r>
              <a:rPr sz="1300" b="0" i="0">
                <a:solidFill>
                  <a:srgbClr val="52514E"/>
                </a:solidFill>
                <a:latin typeface="Segoe UI"/>
              </a:rPr>
              <a:t>da el mismo número — y hay pruebas automáticas que lo exigen.</a:t>
            </a:r>
          </a:p>
        </p:txBody>
      </p:sp>
      <p:pic>
        <p:nvPicPr>
          <p:cNvPr id="13" name="Picture 12" descr="04_caliper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783079"/>
            <a:ext cx="5715000" cy="3700220"/>
          </a:xfrm>
          <a:prstGeom prst="rect">
            <a:avLst/>
          </a:prstGeom>
          <a:ln w="9525">
            <a:solidFill>
              <a:srgbClr val="E1E0D9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126480" y="5602171"/>
            <a:ext cx="5715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Segoe UI"/>
              </a:rPr>
              <a:t>Cada herramienta explica en el panel qué mide y con qué parámetros; la medida y su tolerancia sugerida salen al dibujarla.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Segoe UI"/>
              </a:rPr>
              <a:t>PC Inspector — inspección visual industrial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85655" y="6382512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Segoe UI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256ABF"/>
                </a:solidFill>
                <a:latin typeface="Segoe UI"/>
              </a:rPr>
              <a:t>COMPARAR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100" b="0" i="0">
                <a:solidFill>
                  <a:srgbClr val="0B0B0B"/>
                </a:solidFill>
                <a:latin typeface="Segoe UI Light"/>
              </a:rPr>
              <a:t>Sin entrenar nada. Sin etiquetar un solo defecto.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664208"/>
            <a:ext cx="10637215" cy="0"/>
          </a:xfrm>
          <a:prstGeom prst="line">
            <a:avLst/>
          </a:prstGeom>
          <a:ln w="12700">
            <a:solidFill>
              <a:srgbClr val="E1E0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847087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898781"/>
                </a:solidFill>
                <a:latin typeface="Segoe UI"/>
              </a:rPr>
              <a:t>QUÉ SE HACE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03703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56ABF"/>
                </a:solidFill>
                <a:latin typeface="Segoe UI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" y="2203703"/>
            <a:ext cx="5998464" cy="6957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 i="0">
                <a:solidFill>
                  <a:srgbClr val="0B0B0B"/>
                </a:solidFill>
                <a:latin typeface="Segoe UI"/>
              </a:rPr>
              <a:t>EfficientNet-Lite4 congelado </a:t>
            </a:r>
            <a:r>
              <a:rPr sz="1300" b="0" i="0">
                <a:solidFill>
                  <a:srgbClr val="52514E"/>
                </a:solidFill>
                <a:latin typeface="Segoe UI"/>
              </a:rPr>
              <a:t>(~49 MB) convierte el recorte canónico en un embedding de 1280 dimensiones. Transfer learning sin ajuste fino.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4001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56ABF"/>
                </a:solidFill>
                <a:latin typeface="Segoe UI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3064001"/>
            <a:ext cx="5998464" cy="4942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 i="0">
                <a:solidFill>
                  <a:srgbClr val="0B0B0B"/>
                </a:solidFill>
                <a:latin typeface="Segoe UI"/>
              </a:rPr>
              <a:t>Detección de anomalías de una sola clase: </a:t>
            </a:r>
            <a:r>
              <a:rPr sz="1300" b="0" i="0">
                <a:solidFill>
                  <a:srgbClr val="52514E"/>
                </a:solidFill>
                <a:latin typeface="Segoe UI"/>
              </a:rPr>
              <a:t>similitud coseno contra la referencia, con umbral en media − max(k·σ, 0,02).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22877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56ABF"/>
                </a:solidFill>
                <a:latin typeface="Segoe UI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" y="3722877"/>
            <a:ext cx="5998464" cy="4942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 i="0">
                <a:solidFill>
                  <a:srgbClr val="0B0B0B"/>
                </a:solidFill>
                <a:latin typeface="Segoe UI"/>
              </a:rPr>
              <a:t>Aprendizaje incremental = algoritmo de Welford. </a:t>
            </a:r>
            <a:r>
              <a:rPr sz="1300" b="0" i="0">
                <a:solidFill>
                  <a:srgbClr val="52514E"/>
                </a:solidFill>
                <a:latin typeface="Segoe UI"/>
              </a:rPr>
              <a:t>Cada pieza buena confirmada crea una versión nueva de la referencia; ninguna se borra.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81753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56ABF"/>
                </a:solidFill>
                <a:latin typeface="Segoe UI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" y="4381753"/>
            <a:ext cx="5998464" cy="4942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 i="0">
                <a:solidFill>
                  <a:srgbClr val="0B0B0B"/>
                </a:solidFill>
                <a:latin typeface="Segoe UI"/>
              </a:rPr>
              <a:t>Sin el modelo la aplicación no se cae: </a:t>
            </a:r>
            <a:r>
              <a:rPr sz="1300" b="0" i="0">
                <a:solidFill>
                  <a:srgbClr val="52514E"/>
                </a:solidFill>
                <a:latin typeface="Segoe UI"/>
              </a:rPr>
              <a:t>degrada a inspección solo con herramientas, y lo dice.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1847087"/>
            <a:ext cx="3824935" cy="3127248"/>
          </a:xfrm>
          <a:prstGeom prst="rect">
            <a:avLst/>
          </a:prstGeom>
          <a:solidFill>
            <a:srgbClr val="F4F3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900416" y="2075687"/>
            <a:ext cx="3203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898781"/>
                </a:solidFill>
                <a:latin typeface="Segoe UI"/>
              </a:rPr>
              <a:t>QUÉ NO SE HACE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0416" y="2496311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D03B3B"/>
                </a:solidFill>
                <a:latin typeface="Segoe UI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4" y="2496311"/>
            <a:ext cx="2910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Segoe UI"/>
              </a:rPr>
              <a:t>No se entrena ni se reentrena ninguna red.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0416" y="3008375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D03B3B"/>
                </a:solidFill>
                <a:latin typeface="Segoe UI"/>
              </a:rPr>
              <a:t>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3008375"/>
            <a:ext cx="2910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Segoe UI"/>
              </a:rPr>
              <a:t>Ni YOLO, ni segmentación semántica.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0416" y="3520439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D03B3B"/>
                </a:solidFill>
                <a:latin typeface="Segoe UI"/>
              </a:rPr>
              <a:t>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3024" y="3520439"/>
            <a:ext cx="2910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Segoe UI"/>
              </a:rPr>
              <a:t>Ni template matching por correlación.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0416" y="4032503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D03B3B"/>
                </a:solidFill>
                <a:latin typeface="Segoe UI"/>
              </a:rPr>
              <a:t>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4" y="4032503"/>
            <a:ext cx="2910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Segoe UI"/>
              </a:rPr>
              <a:t>Ni OCR.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00416" y="4544567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D03B3B"/>
                </a:solidFill>
                <a:latin typeface="Segoe UI"/>
              </a:rPr>
              <a:t>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4" y="4544567"/>
            <a:ext cx="2910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Segoe UI"/>
              </a:rPr>
              <a:t>Ni profundidad: una vista 2D no la contiene.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440680"/>
            <a:ext cx="10637215" cy="713232"/>
          </a:xfrm>
          <a:prstGeom prst="rect">
            <a:avLst/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88136" y="5495544"/>
            <a:ext cx="1001542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52514E"/>
                </a:solidFill>
                <a:latin typeface="Segoe UI"/>
              </a:rPr>
              <a:t>Es exactamente esa renuncia la que permite correr en una PC modesta, sin GPU y sin depender de un modelo propio que haya que mantener.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Segoe UI"/>
              </a:rPr>
              <a:t>PC Inspector — inspección visual industrial offline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85655" y="6382512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Segoe UI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256ABF"/>
                </a:solidFill>
                <a:latin typeface="Segoe UI"/>
              </a:rPr>
              <a:t>AUTOMATIZAR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100" b="0" i="0">
                <a:solidFill>
                  <a:srgbClr val="0B0B0B"/>
                </a:solidFill>
                <a:latin typeface="Segoe UI Light"/>
              </a:rPr>
              <a:t>«¿Cuánto mide esto?», contestado entero y de una vez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664208"/>
            <a:ext cx="10637215" cy="0"/>
          </a:xfrm>
          <a:prstGeom prst="line">
            <a:avLst/>
          </a:prstGeom>
          <a:ln w="12700">
            <a:solidFill>
              <a:srgbClr val="E1E0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874519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56ABF"/>
                </a:solidFill>
                <a:latin typeface="Segoe UI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1874519"/>
            <a:ext cx="5084064" cy="4942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 i="0">
                <a:solidFill>
                  <a:srgbClr val="0B0B0B"/>
                </a:solidFill>
                <a:latin typeface="Segoe UI"/>
              </a:rPr>
              <a:t>El contorno se descompone en rectas y arcos, </a:t>
            </a:r>
            <a:r>
              <a:rPr sz="1300" b="0" i="0">
                <a:solidFill>
                  <a:srgbClr val="52514E"/>
                </a:solidFill>
                <a:latin typeface="Segoe UI"/>
              </a:rPr>
              <a:t>y de ahí salen las cotas que tienen sentido para esa forma concreta.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33395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56ABF"/>
                </a:solidFill>
                <a:latin typeface="Segoe UI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2533395"/>
            <a:ext cx="5084064" cy="4942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 i="0">
                <a:solidFill>
                  <a:srgbClr val="0B0B0B"/>
                </a:solidFill>
                <a:latin typeface="Segoe UI"/>
              </a:rPr>
              <a:t>Cada cota dice de dónde sale. </a:t>
            </a:r>
            <a:r>
              <a:rPr sz="1300" b="0" i="0">
                <a:solidFill>
                  <a:srgbClr val="52514E"/>
                </a:solidFill>
                <a:latin typeface="Segoe UI"/>
              </a:rPr>
              <a:t>No hay números sin procedencia: la columna existe y está siempre rellena.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92271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56ABF"/>
                </a:solidFill>
                <a:latin typeface="Segoe UI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" y="3192271"/>
            <a:ext cx="5084064" cy="4942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 i="0">
                <a:solidFill>
                  <a:srgbClr val="0B0B0B"/>
                </a:solidFill>
                <a:latin typeface="Segoe UI"/>
              </a:rPr>
              <a:t>Se exportan a CSV </a:t>
            </a:r>
            <a:r>
              <a:rPr sz="1300" b="0" i="0">
                <a:solidFill>
                  <a:srgbClr val="52514E"/>
                </a:solidFill>
                <a:latin typeface="Segoe UI"/>
              </a:rPr>
              <a:t>y se convierten en criterio OK/NG con un clic en «Vigilar estas cotas».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51147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56ABF"/>
                </a:solidFill>
                <a:latin typeface="Segoe U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3851147"/>
            <a:ext cx="5084064" cy="6957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 i="0">
                <a:solidFill>
                  <a:srgbClr val="0B0B0B"/>
                </a:solidFill>
                <a:latin typeface="Segoe UI"/>
              </a:rPr>
              <a:t>Las cotas informativas van marcadas. </a:t>
            </a:r>
            <a:r>
              <a:rPr sz="1300" b="0" i="0">
                <a:solidFill>
                  <a:srgbClr val="52514E"/>
                </a:solidFill>
                <a:latin typeface="Segoe UI"/>
              </a:rPr>
              <a:t>Se descubrió porque 14 de 15 propuestas daban el mismo número sobre otra figura: un ángulo de 120,26° sobre un cuadrado.</a:t>
            </a:r>
          </a:p>
        </p:txBody>
      </p:sp>
      <p:pic>
        <p:nvPicPr>
          <p:cNvPr id="13" name="Picture 12" descr="03_med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737359"/>
            <a:ext cx="5440680" cy="3946642"/>
          </a:xfrm>
          <a:prstGeom prst="rect">
            <a:avLst/>
          </a:prstGeom>
          <a:ln w="9525">
            <a:solidFill>
              <a:srgbClr val="E1E0D9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675120" y="5802873"/>
            <a:ext cx="5440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Segoe UI"/>
              </a:rPr>
              <a:t>Captura real sobre la pieza de muestra: 6 lados, perímetro 676,47 px, área 13.906,50 px², un agujero, y 15 cotas deducidas de la forma.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Segoe UI"/>
              </a:rPr>
              <a:t>PC Inspector — inspección visual industrial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85655" y="6382512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Segoe UI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256ABF"/>
                </a:solidFill>
                <a:latin typeface="Segoe UI"/>
              </a:rPr>
              <a:t>MADUREZ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100" b="0" i="0">
                <a:solidFill>
                  <a:srgbClr val="0B0B0B"/>
                </a:solidFill>
                <a:latin typeface="Segoe UI Light"/>
              </a:rPr>
              <a:t>No es un prototipo de fin de semana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664208"/>
            <a:ext cx="10637215" cy="0"/>
          </a:xfrm>
          <a:prstGeom prst="line">
            <a:avLst/>
          </a:prstGeom>
          <a:ln w="12700">
            <a:solidFill>
              <a:srgbClr val="E1E0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783079"/>
            <a:ext cx="2339263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0" i="0">
                <a:solidFill>
                  <a:srgbClr val="256ABF"/>
                </a:solidFill>
                <a:latin typeface="Segoe UI Light"/>
              </a:rPr>
              <a:t>213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86583"/>
            <a:ext cx="23392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commits en 51 días,
del 2 de julio al 21 de agosto de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36543" y="1783079"/>
            <a:ext cx="2339263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0" i="0">
                <a:solidFill>
                  <a:srgbClr val="256ABF"/>
                </a:solidFill>
                <a:latin typeface="Segoe UI Light"/>
              </a:rPr>
              <a:t>38.602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36543" y="2386583"/>
            <a:ext cx="23392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líneas de código de producción
en 173 ficheros y 10 módulos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7" y="1783079"/>
            <a:ext cx="2339263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0" i="0">
                <a:solidFill>
                  <a:srgbClr val="256ABF"/>
                </a:solidFill>
                <a:latin typeface="Segoe UI Light"/>
              </a:rPr>
              <a:t>969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5847" y="2386583"/>
            <a:ext cx="23392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pruebas automáticas
en 35 ficheros de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5151" y="1783079"/>
            <a:ext cx="2339263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0" i="0">
                <a:solidFill>
                  <a:srgbClr val="256ABF"/>
                </a:solidFill>
                <a:latin typeface="Segoe UI Light"/>
              </a:rPr>
              <a:t>0,72 :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5151" y="2386583"/>
            <a:ext cx="23392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líneas de prueba por línea de código:
el 42 % del C++ del repositorio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7240" y="3310128"/>
            <a:ext cx="10637215" cy="0"/>
          </a:xfrm>
          <a:prstGeom prst="line">
            <a:avLst/>
          </a:prstGeom>
          <a:ln w="12700">
            <a:solidFill>
              <a:srgbClr val="E1E0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7240" y="3529584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 i="0">
                <a:solidFill>
                  <a:srgbClr val="0B0B0B"/>
                </a:solidFill>
                <a:latin typeface="Segoe UI"/>
              </a:rPr>
              <a:t>Commits por semana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El pico de la semana 6 es la ronda de medición automática y GD&amp;T: cuatro herramientas de torno, descomposición del contorno y siete herramientas de tolerancia geométrica.</a:t>
            </a:r>
          </a:p>
        </p:txBody>
      </p:sp>
      <p:sp>
        <p:nvSpPr>
          <p:cNvPr id="15" name="Round Same Side Corner Rectangle 14"/>
          <p:cNvSpPr/>
          <p:nvPr/>
        </p:nvSpPr>
        <p:spPr>
          <a:xfrm>
            <a:off x="5442499" y="5292266"/>
            <a:ext cx="400182" cy="221566"/>
          </a:xfrm>
          <a:prstGeom prst="round2SameRect">
            <a:avLst>
              <a:gd name="adj1" fmla="val 2256"/>
              <a:gd name="adj2" fmla="val 0"/>
            </a:avLst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259619" y="5017946"/>
            <a:ext cx="76594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52514E"/>
                </a:solidFill>
                <a:latin typeface="Segoe UI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9619" y="5577840"/>
            <a:ext cx="76594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898781"/>
                </a:solidFill>
                <a:latin typeface="Segoe UI"/>
              </a:rPr>
              <a:t>1</a:t>
            </a:r>
          </a:p>
        </p:txBody>
      </p:sp>
      <p:sp>
        <p:nvSpPr>
          <p:cNvPr id="18" name="Round Same Side Corner Rectangle 17"/>
          <p:cNvSpPr/>
          <p:nvPr/>
        </p:nvSpPr>
        <p:spPr>
          <a:xfrm>
            <a:off x="6212080" y="5181483"/>
            <a:ext cx="400182" cy="332349"/>
          </a:xfrm>
          <a:prstGeom prst="round2SameRect">
            <a:avLst>
              <a:gd name="adj1" fmla="val 1504"/>
              <a:gd name="adj2" fmla="val 0"/>
            </a:avLst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029200" y="4907163"/>
            <a:ext cx="76594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52514E"/>
                </a:solidFill>
                <a:latin typeface="Segoe UI"/>
              </a:rPr>
              <a:t>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29200" y="5577840"/>
            <a:ext cx="76594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898781"/>
                </a:solidFill>
                <a:latin typeface="Segoe UI"/>
              </a:rPr>
              <a:t>2</a:t>
            </a:r>
          </a:p>
        </p:txBody>
      </p:sp>
      <p:sp>
        <p:nvSpPr>
          <p:cNvPr id="21" name="Round Same Side Corner Rectangle 20"/>
          <p:cNvSpPr/>
          <p:nvPr/>
        </p:nvSpPr>
        <p:spPr>
          <a:xfrm>
            <a:off x="6981662" y="5137170"/>
            <a:ext cx="400182" cy="376662"/>
          </a:xfrm>
          <a:prstGeom prst="round2SameRect">
            <a:avLst>
              <a:gd name="adj1" fmla="val 1327"/>
              <a:gd name="adj2" fmla="val 0"/>
            </a:avLst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98782" y="4862850"/>
            <a:ext cx="76594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52514E"/>
                </a:solidFill>
                <a:latin typeface="Segoe UI"/>
              </a:rPr>
              <a:t>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8782" y="5577840"/>
            <a:ext cx="76594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898781"/>
                </a:solidFill>
                <a:latin typeface="Segoe UI"/>
              </a:rPr>
              <a:t>3</a:t>
            </a:r>
          </a:p>
        </p:txBody>
      </p:sp>
      <p:sp>
        <p:nvSpPr>
          <p:cNvPr id="24" name="Round Same Side Corner Rectangle 23"/>
          <p:cNvSpPr/>
          <p:nvPr/>
        </p:nvSpPr>
        <p:spPr>
          <a:xfrm>
            <a:off x="7751244" y="4738351"/>
            <a:ext cx="400182" cy="775481"/>
          </a:xfrm>
          <a:prstGeom prst="round2SameRect">
            <a:avLst>
              <a:gd name="adj1" fmla="val 644"/>
              <a:gd name="adj2" fmla="val 0"/>
            </a:avLst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568364" y="4464031"/>
            <a:ext cx="76594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52514E"/>
                </a:solidFill>
                <a:latin typeface="Segoe UI"/>
              </a:rPr>
              <a:t>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68364" y="5577840"/>
            <a:ext cx="76594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898781"/>
                </a:solidFill>
                <a:latin typeface="Segoe UI"/>
              </a:rPr>
              <a:t>4</a:t>
            </a:r>
          </a:p>
        </p:txBody>
      </p:sp>
      <p:sp>
        <p:nvSpPr>
          <p:cNvPr id="27" name="Round Same Side Corner Rectangle 26"/>
          <p:cNvSpPr/>
          <p:nvPr/>
        </p:nvSpPr>
        <p:spPr>
          <a:xfrm>
            <a:off x="8520826" y="5181483"/>
            <a:ext cx="400182" cy="332349"/>
          </a:xfrm>
          <a:prstGeom prst="round2SameRect">
            <a:avLst>
              <a:gd name="adj1" fmla="val 1504"/>
              <a:gd name="adj2" fmla="val 0"/>
            </a:avLst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37946" y="4907163"/>
            <a:ext cx="76594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52514E"/>
                </a:solidFill>
                <a:latin typeface="Segoe UI"/>
              </a:rPr>
              <a:t>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7946" y="5577840"/>
            <a:ext cx="76594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898781"/>
                </a:solidFill>
                <a:latin typeface="Segoe UI"/>
              </a:rPr>
              <a:t>5</a:t>
            </a:r>
          </a:p>
        </p:txBody>
      </p:sp>
      <p:sp>
        <p:nvSpPr>
          <p:cNvPr id="30" name="Round Same Side Corner Rectangle 29"/>
          <p:cNvSpPr/>
          <p:nvPr/>
        </p:nvSpPr>
        <p:spPr>
          <a:xfrm>
            <a:off x="9290408" y="3785616"/>
            <a:ext cx="400182" cy="1728216"/>
          </a:xfrm>
          <a:prstGeom prst="round2SameRect">
            <a:avLst>
              <a:gd name="adj1" fmla="val 289"/>
              <a:gd name="adj2" fmla="val 0"/>
            </a:avLst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07528" y="3511296"/>
            <a:ext cx="76594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52514E"/>
                </a:solidFill>
                <a:latin typeface="Segoe UI"/>
              </a:rPr>
              <a:t>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07528" y="5577840"/>
            <a:ext cx="76594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898781"/>
                </a:solidFill>
                <a:latin typeface="Segoe UI"/>
              </a:rPr>
              <a:t>6</a:t>
            </a:r>
          </a:p>
        </p:txBody>
      </p:sp>
      <p:sp>
        <p:nvSpPr>
          <p:cNvPr id="33" name="Round Same Side Corner Rectangle 32"/>
          <p:cNvSpPr/>
          <p:nvPr/>
        </p:nvSpPr>
        <p:spPr>
          <a:xfrm>
            <a:off x="10059990" y="4605411"/>
            <a:ext cx="400182" cy="908421"/>
          </a:xfrm>
          <a:prstGeom prst="round2SameRect">
            <a:avLst>
              <a:gd name="adj1" fmla="val 550"/>
              <a:gd name="adj2" fmla="val 0"/>
            </a:avLst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877110" y="4331091"/>
            <a:ext cx="76594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52514E"/>
                </a:solidFill>
                <a:latin typeface="Segoe UI"/>
              </a:rPr>
              <a:t>41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7110" y="5577840"/>
            <a:ext cx="76594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898781"/>
                </a:solidFill>
                <a:latin typeface="Segoe UI"/>
              </a:rPr>
              <a:t>7</a:t>
            </a:r>
          </a:p>
        </p:txBody>
      </p:sp>
      <p:sp>
        <p:nvSpPr>
          <p:cNvPr id="36" name="Round Same Side Corner Rectangle 35"/>
          <p:cNvSpPr/>
          <p:nvPr/>
        </p:nvSpPr>
        <p:spPr>
          <a:xfrm>
            <a:off x="10829572" y="5469519"/>
            <a:ext cx="400182" cy="44313"/>
          </a:xfrm>
          <a:prstGeom prst="round2SameRect">
            <a:avLst>
              <a:gd name="adj1" fmla="val 11283"/>
              <a:gd name="adj2" fmla="val 0"/>
            </a:avLst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0646692" y="5195199"/>
            <a:ext cx="76594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898781"/>
                </a:solidFill>
                <a:latin typeface="Segoe UI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46692" y="5577840"/>
            <a:ext cx="76594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898781"/>
                </a:solidFill>
                <a:latin typeface="Segoe UI"/>
              </a:rPr>
              <a:t>8*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257800" y="5513832"/>
            <a:ext cx="6156655" cy="0"/>
          </a:xfrm>
          <a:prstGeom prst="line">
            <a:avLst/>
          </a:prstGeom>
          <a:ln w="12700">
            <a:solidFill>
              <a:srgbClr val="E1E0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257800" y="5806440"/>
            <a:ext cx="61566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Segoe UI"/>
              </a:rPr>
              <a:t>Semana desde el arranque (2 jul 2026)   ·   * semana en curso, 2 días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Segoe UI"/>
              </a:rPr>
              <a:t>PC Inspector — inspección visual industrial offline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85655" y="6382512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Segoe UI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256ABF"/>
                </a:solidFill>
                <a:latin typeface="Segoe UI"/>
              </a:rPr>
              <a:t>RENDIMIENTO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100" b="0" i="0">
                <a:solidFill>
                  <a:srgbClr val="0B0B0B"/>
                </a:solidFill>
                <a:latin typeface="Segoe UI Light"/>
              </a:rPr>
              <a:t>Medido dentro de la aplicación, no estimado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664208"/>
            <a:ext cx="10637215" cy="0"/>
          </a:xfrm>
          <a:prstGeom prst="line">
            <a:avLst/>
          </a:prstGeom>
          <a:ln w="12700">
            <a:solidFill>
              <a:srgbClr val="E1E0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810512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Segoe UI"/>
              </a:rPr>
              <a:t>Cronometraje por etapas, apagado por defecto: encendido no cuesta ni una llamada al reloj.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9864" y="2569464"/>
            <a:ext cx="0" cy="2322576"/>
          </a:xfrm>
          <a:prstGeom prst="line">
            <a:avLst/>
          </a:prstGeom>
          <a:ln w="15875">
            <a:solidFill>
              <a:srgbClr val="D0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621024" y="2313432"/>
            <a:ext cx="20848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D03B3B"/>
                </a:solidFill>
                <a:latin typeface="Segoe UI"/>
              </a:rPr>
              <a:t>33,3 ms = un frame a 30 fps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104388"/>
            <a:ext cx="15819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B0B0B"/>
                </a:solidFill>
                <a:latin typeface="Segoe UI"/>
              </a:rPr>
              <a:t>20 herramientas</a:t>
            </a:r>
          </a:p>
        </p:txBody>
      </p:sp>
      <p:sp>
        <p:nvSpPr>
          <p:cNvPr id="9" name="Round Same Side Corner Rectangle 8"/>
          <p:cNvSpPr/>
          <p:nvPr/>
        </p:nvSpPr>
        <p:spPr>
          <a:xfrm>
            <a:off x="2560320" y="2976372"/>
            <a:ext cx="3257735" cy="210312"/>
          </a:xfrm>
          <a:prstGeom prst="round2SameRect">
            <a:avLst>
              <a:gd name="adj1" fmla="val 1227"/>
              <a:gd name="adj2" fmla="val 0"/>
            </a:avLst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36927" y="2962656"/>
            <a:ext cx="81381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33,8 ms</a:t>
            </a:r>
          </a:p>
        </p:txBody>
      </p:sp>
      <p:sp>
        <p:nvSpPr>
          <p:cNvPr id="11" name="Round Same Side Corner Rectangle 10"/>
          <p:cNvSpPr/>
          <p:nvPr/>
        </p:nvSpPr>
        <p:spPr>
          <a:xfrm>
            <a:off x="2560320" y="3259836"/>
            <a:ext cx="877082" cy="210312"/>
          </a:xfrm>
          <a:prstGeom prst="round2SameRect">
            <a:avLst>
              <a:gd name="adj1" fmla="val 4560"/>
              <a:gd name="adj2" fmla="val 0"/>
            </a:avLst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56274" y="3246120"/>
            <a:ext cx="81381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0B0B0B"/>
                </a:solidFill>
                <a:latin typeface="Segoe UI"/>
              </a:rPr>
              <a:t>9,1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309524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006300"/>
                </a:solidFill>
                <a:latin typeface="Segoe UI"/>
              </a:rPr>
              <a:t>3,72x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90188"/>
            <a:ext cx="15819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B0B0B"/>
                </a:solidFill>
                <a:latin typeface="Segoe UI"/>
              </a:rPr>
              <a:t>10 herramientas</a:t>
            </a:r>
          </a:p>
        </p:txBody>
      </p:sp>
      <p:sp>
        <p:nvSpPr>
          <p:cNvPr id="15" name="Round Same Side Corner Rectangle 14"/>
          <p:cNvSpPr/>
          <p:nvPr/>
        </p:nvSpPr>
        <p:spPr>
          <a:xfrm>
            <a:off x="2560320" y="3662172"/>
            <a:ext cx="1387910" cy="210312"/>
          </a:xfrm>
          <a:prstGeom prst="round2SameRect">
            <a:avLst>
              <a:gd name="adj1" fmla="val 2882"/>
              <a:gd name="adj2" fmla="val 0"/>
            </a:avLst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067102" y="3648456"/>
            <a:ext cx="81381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14,4 ms</a:t>
            </a:r>
          </a:p>
        </p:txBody>
      </p:sp>
      <p:sp>
        <p:nvSpPr>
          <p:cNvPr id="17" name="Round Same Side Corner Rectangle 16"/>
          <p:cNvSpPr/>
          <p:nvPr/>
        </p:nvSpPr>
        <p:spPr>
          <a:xfrm>
            <a:off x="2560320" y="3945636"/>
            <a:ext cx="481913" cy="210312"/>
          </a:xfrm>
          <a:prstGeom prst="round2SameRect">
            <a:avLst>
              <a:gd name="adj1" fmla="val 8300"/>
              <a:gd name="adj2" fmla="val 0"/>
            </a:avLst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161105" y="3931920"/>
            <a:ext cx="81381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0B0B0B"/>
                </a:solidFill>
                <a:latin typeface="Segoe UI"/>
              </a:rPr>
              <a:t>5,0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378104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006300"/>
                </a:solidFill>
                <a:latin typeface="Segoe UI"/>
              </a:rPr>
              <a:t>2,87x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475988"/>
            <a:ext cx="15819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B0B0B"/>
                </a:solidFill>
                <a:latin typeface="Segoe UI"/>
              </a:rPr>
              <a:t>5 herramientas</a:t>
            </a:r>
          </a:p>
        </p:txBody>
      </p:sp>
      <p:sp>
        <p:nvSpPr>
          <p:cNvPr id="21" name="Round Same Side Corner Rectangle 20"/>
          <p:cNvSpPr/>
          <p:nvPr/>
        </p:nvSpPr>
        <p:spPr>
          <a:xfrm>
            <a:off x="2560320" y="4347972"/>
            <a:ext cx="665040" cy="210312"/>
          </a:xfrm>
          <a:prstGeom prst="round2SameRect">
            <a:avLst>
              <a:gd name="adj1" fmla="val 6014"/>
              <a:gd name="adj2" fmla="val 0"/>
            </a:avLst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344232" y="4334256"/>
            <a:ext cx="81381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6,9 ms</a:t>
            </a:r>
          </a:p>
        </p:txBody>
      </p:sp>
      <p:sp>
        <p:nvSpPr>
          <p:cNvPr id="23" name="Round Same Side Corner Rectangle 22"/>
          <p:cNvSpPr/>
          <p:nvPr/>
        </p:nvSpPr>
        <p:spPr>
          <a:xfrm>
            <a:off x="2560320" y="4631436"/>
            <a:ext cx="443360" cy="210312"/>
          </a:xfrm>
          <a:prstGeom prst="round2SameRect">
            <a:avLst>
              <a:gd name="adj1" fmla="val 9022"/>
              <a:gd name="adj2" fmla="val 0"/>
            </a:avLst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122552" y="4617720"/>
            <a:ext cx="81381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0B0B0B"/>
                </a:solidFill>
                <a:latin typeface="Segoe UI"/>
              </a:rPr>
              <a:t>4,6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446684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006300"/>
                </a:solidFill>
                <a:latin typeface="Segoe UI"/>
              </a:rPr>
              <a:t>1,49x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0" y="5074920"/>
            <a:ext cx="274320" cy="118872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926080" y="5029200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Segoe UI"/>
              </a:rPr>
              <a:t>En serie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7640" y="5074920"/>
            <a:ext cx="274320" cy="118872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343400" y="5029200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Segoe UI"/>
              </a:rPr>
              <a:t>Repartidas entre núcleos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2487168"/>
            <a:ext cx="30019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898781"/>
                </a:solidFill>
                <a:latin typeface="Segoe UI"/>
              </a:rPr>
              <a:t>OTRAS MEDIDAS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2852928"/>
            <a:ext cx="30019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B0B0B"/>
                </a:solidFill>
                <a:latin typeface="Segoe UI"/>
              </a:rPr>
              <a:t>analyzeFrame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3090672"/>
            <a:ext cx="3001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Segoe UI"/>
              </a:rPr>
              <a:t>35,4 → 23,1 ms (1,53×) tras medir dónde se iba el tiempo.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3639312"/>
            <a:ext cx="30019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B0B0B"/>
                </a:solidFill>
                <a:latin typeface="Segoe UI"/>
              </a:rPr>
              <a:t>Zona de trabajo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3877056"/>
            <a:ext cx="3001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Segoe UI"/>
              </a:rPr>
              <a:t>~13 → ~2 ms (6×) cuando la pieza ocupa una esquina.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4425696"/>
            <a:ext cx="30019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B0B0B"/>
                </a:solidFill>
                <a:latin typeface="Segoe UI"/>
              </a:rPr>
              <a:t>Escala px→mm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4663440"/>
            <a:ext cx="3001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Segoe UI"/>
              </a:rPr>
              <a:t>peor error 0,145 % en un barrido de 0,05 a 1,0 mm/px.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440680"/>
            <a:ext cx="10637215" cy="713232"/>
          </a:xfrm>
          <a:prstGeom prst="rect">
            <a:avLst/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088136" y="5495544"/>
            <a:ext cx="1001542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52514E"/>
                </a:solidFill>
                <a:latin typeface="Segoe UI"/>
              </a:rPr>
              <a:t>Y una medición que salió en contra: la escala de trabajo adaptativa prometía acelerar y dio 1,10×. Se retiró, y queda documentada igual — el criterio para creerse una cifra es el mismo tanto si conviene como si no.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Segoe UI"/>
              </a:rPr>
              <a:t>PC Inspector — inspección visual industrial offline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85655" y="6382512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Segoe UI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256ABF"/>
                </a:solidFill>
                <a:latin typeface="Segoe UI"/>
              </a:rPr>
              <a:t>POSICIÓN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100" b="0" i="0">
                <a:solidFill>
                  <a:srgbClr val="0B0B0B"/>
                </a:solidFill>
                <a:latin typeface="Segoe UI Light"/>
              </a:rPr>
              <a:t>Dónde gana, y dónde no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664208"/>
            <a:ext cx="10637215" cy="0"/>
          </a:xfrm>
          <a:prstGeom prst="line">
            <a:avLst/>
          </a:prstGeom>
          <a:ln w="12700">
            <a:solidFill>
              <a:srgbClr val="E1E0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737359"/>
            <a:ext cx="18381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898781"/>
                </a:solidFill>
                <a:latin typeface="Segoe U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98310" y="1737359"/>
            <a:ext cx="2795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898781"/>
                </a:solidFill>
                <a:latin typeface="Segoe UI"/>
              </a:rPr>
              <a:t>PC Inspector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76730" y="1737359"/>
            <a:ext cx="54548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898781"/>
                </a:solidFill>
                <a:latin typeface="Segoe UI"/>
              </a:rPr>
              <a:t>Estaciones comerciales · VisionMaster, Cognex, Keyence, Halcon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2048255"/>
            <a:ext cx="10637215" cy="0"/>
          </a:xfrm>
          <a:prstGeom prst="line">
            <a:avLst/>
          </a:prstGeom>
          <a:ln w="12700">
            <a:solidFill>
              <a:srgbClr val="0B0B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2176271"/>
            <a:ext cx="181990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Licencia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8310" y="2176271"/>
            <a:ext cx="277725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 i="0">
                <a:solidFill>
                  <a:srgbClr val="0B0B0B"/>
                </a:solidFill>
                <a:latin typeface="Segoe UI"/>
              </a:rPr>
              <a:t>0 €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6730" y="2176271"/>
            <a:ext cx="54365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Miles a decenas de miles de euros por puesto, más runtime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" y="2624327"/>
            <a:ext cx="10637215" cy="0"/>
          </a:xfrm>
          <a:prstGeom prst="line">
            <a:avLst/>
          </a:prstGeom>
          <a:ln w="9525">
            <a:solidFill>
              <a:srgbClr val="E1E0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77240" y="2724911"/>
            <a:ext cx="181990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98310" y="2724911"/>
            <a:ext cx="277725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 i="0">
                <a:solidFill>
                  <a:srgbClr val="0B0B0B"/>
                </a:solidFill>
                <a:latin typeface="Segoe UI"/>
              </a:rPr>
              <a:t>PC sin GPU + webcam USB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76730" y="2724911"/>
            <a:ext cx="54365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Cámara industrial, óptica y controlador propietarios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7240" y="3172967"/>
            <a:ext cx="10637215" cy="0"/>
          </a:xfrm>
          <a:prstGeom prst="line">
            <a:avLst/>
          </a:prstGeom>
          <a:ln w="9525">
            <a:solidFill>
              <a:srgbClr val="E1E0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77240" y="3273551"/>
            <a:ext cx="181990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Conexión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8310" y="3273551"/>
            <a:ext cx="277725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 i="0">
                <a:solidFill>
                  <a:srgbClr val="0B0B0B"/>
                </a:solidFill>
                <a:latin typeface="Segoe UI"/>
              </a:rPr>
              <a:t>Ninguna: todo local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6730" y="3273551"/>
            <a:ext cx="54365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También local, pero atado a su ecosistema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77240" y="3721607"/>
            <a:ext cx="10637215" cy="0"/>
          </a:xfrm>
          <a:prstGeom prst="line">
            <a:avLst/>
          </a:prstGeom>
          <a:ln w="9525">
            <a:solidFill>
              <a:srgbClr val="E1E0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77240" y="3822191"/>
            <a:ext cx="181990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Defectos etiquetados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98310" y="3822191"/>
            <a:ext cx="277725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 i="0">
                <a:solidFill>
                  <a:srgbClr val="0B0B0B"/>
                </a:solidFill>
                <a:latin typeface="Segoe UI"/>
              </a:rPr>
              <a:t>No hacen falta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76730" y="3822191"/>
            <a:ext cx="54365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Sus módulos de deep learning sí los piden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77240" y="4270247"/>
            <a:ext cx="10637215" cy="0"/>
          </a:xfrm>
          <a:prstGeom prst="line">
            <a:avLst/>
          </a:prstGeom>
          <a:ln w="9525">
            <a:solidFill>
              <a:srgbClr val="E1E0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77240" y="4370831"/>
            <a:ext cx="181990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Despliegue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310" y="4370831"/>
            <a:ext cx="277725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 i="0">
                <a:solidFill>
                  <a:srgbClr val="0B0B0B"/>
                </a:solidFill>
                <a:latin typeface="Segoe UI"/>
              </a:rPr>
              <a:t>.zip portable de ~178 MB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76730" y="4370831"/>
            <a:ext cx="54365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Instalador con dongle, o hardware dedicado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77240" y="4818887"/>
            <a:ext cx="10637215" cy="0"/>
          </a:xfrm>
          <a:prstGeom prst="line">
            <a:avLst/>
          </a:prstGeom>
          <a:ln w="9525">
            <a:solidFill>
              <a:srgbClr val="E1E0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777240" y="4892040"/>
            <a:ext cx="10637215" cy="868680"/>
          </a:xfrm>
          <a:prstGeom prst="rect">
            <a:avLst/>
          </a:prstGeom>
          <a:solidFill>
            <a:srgbClr val="F4F3E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77240" y="4892040"/>
            <a:ext cx="41148" cy="86868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88136" y="5047488"/>
            <a:ext cx="99971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1" i="0">
                <a:solidFill>
                  <a:srgbClr val="0B0B0B"/>
                </a:solidFill>
                <a:latin typeface="Segoe UI"/>
              </a:rPr>
              <a:t>Dónde pierde: </a:t>
            </a:r>
            <a:r>
              <a:rPr sz="1250" b="0" i="0">
                <a:solidFill>
                  <a:srgbClr val="52514E"/>
                </a:solidFill>
                <a:latin typeface="Segoe UI"/>
              </a:rPr>
              <a:t>sin corrección de distorsión de lente, sin salida a PLC ni disparo por sensor, óptica de webcam frente a telecéntrica, y sin soporte comercial, certificaciones ni red de integradores.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9893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Segoe UI"/>
              </a:rPr>
              <a:t>Las cifras de licencia son órdenes de magnitud del sector, no precios de catálogo.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Segoe UI"/>
              </a:rPr>
              <a:t>PC Inspector — inspección visual industrial offline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85655" y="6382512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Segoe U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256ABF"/>
                </a:solidFill>
                <a:latin typeface="Segoe UI"/>
              </a:rPr>
              <a:t>FUTURO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100" b="0" i="0">
                <a:solidFill>
                  <a:srgbClr val="0B0B0B"/>
                </a:solidFill>
                <a:latin typeface="Segoe UI Light"/>
              </a:rPr>
              <a:t>Lo que sigue, ordenado por lo que aporta frente a lo que cuesta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664208"/>
            <a:ext cx="10637215" cy="0"/>
          </a:xfrm>
          <a:prstGeom prst="line">
            <a:avLst/>
          </a:prstGeom>
          <a:ln w="12700">
            <a:solidFill>
              <a:srgbClr val="E1E0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777240" y="1691639"/>
            <a:ext cx="3332378" cy="384048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96696" y="1773935"/>
            <a:ext cx="29666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CORTO  ~3 MESES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2285999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0B0B0B"/>
                </a:solidFill>
                <a:latin typeface="Segoe UI"/>
              </a:rPr>
              <a:t>Iluminación difusa y fondo 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697479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Segoe UI"/>
              </a:rPr>
              <a:t>el mayor salto de calidad, y no es código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3218687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0B0B0B"/>
                </a:solidFill>
                <a:latin typeface="Segoe UI"/>
              </a:rPr>
              <a:t>Mapa de calor de diferencia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3630167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Segoe UI"/>
              </a:rPr>
              <a:t>el operador ve por qué la pieza es 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4151375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0B0B0B"/>
                </a:solidFill>
                <a:latin typeface="Segoe UI"/>
              </a:rPr>
              <a:t>Historial a CSV e informe por turno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4562855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Segoe UI"/>
              </a:rPr>
              <a:t>trazabilidad de verdad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5084063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0B0B0B"/>
                </a:solidFill>
                <a:latin typeface="Segoe UI"/>
              </a:rPr>
              <a:t>Integración continua y ejecutable firmado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5495543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Segoe UI"/>
              </a:rPr>
              <a:t>hoy se compila y prueba a mano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29658" y="1691639"/>
            <a:ext cx="3332378" cy="384048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649114" y="1773935"/>
            <a:ext cx="29666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MEDIO  6–12 MESES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7946" y="2285999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0B0B0B"/>
                </a:solidFill>
                <a:latin typeface="Segoe UI"/>
              </a:rPr>
              <a:t>Corrección de distorsión de lente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7946" y="2697479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Segoe UI"/>
              </a:rPr>
              <a:t>la mejora de exactitud más seria que queda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7946" y="3218687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0B0B0B"/>
                </a:solidFill>
                <a:latin typeface="Segoe UI"/>
              </a:rPr>
              <a:t>Segmentación adaptativa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7946" y="3630167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Segoe UI"/>
              </a:rPr>
              <a:t>sobrevive a sombras sin cambiar de perfil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7946" y="4151375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0B0B0B"/>
                </a:solidFill>
                <a:latin typeface="Segoe UI"/>
              </a:rPr>
              <a:t>Umbral por curva ROC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47946" y="4562855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Segoe UI"/>
              </a:rPr>
              <a:t>con piezas malas reales, en vez de asumir 3σ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7946" y="5084063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0B0B0B"/>
                </a:solidFill>
                <a:latin typeface="Segoe UI"/>
              </a:rPr>
              <a:t>Disparo por sensor y salida a PLC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7946" y="5495543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Segoe UI"/>
              </a:rPr>
              <a:t>pasar de informar a actuar sobre la línea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82076" y="1691639"/>
            <a:ext cx="3332378" cy="384048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301532" y="1773935"/>
            <a:ext cx="29666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0B0B0B"/>
                </a:solidFill>
                <a:latin typeface="Segoe UI"/>
              </a:rPr>
              <a:t>LARGO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00364" y="2285999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0B0B0B"/>
                </a:solidFill>
                <a:latin typeface="Segoe UI"/>
              </a:rPr>
              <a:t>Banco de parches (PatchCore, PaDiM)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0364" y="2697479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Segoe UI"/>
              </a:rPr>
              <a:t>localizar el defecto, no solo detectarlo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00364" y="3218687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0B0B0B"/>
                </a:solidFill>
                <a:latin typeface="Segoe UI"/>
              </a:rPr>
              <a:t>Multi-cámara con veredicto combinado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00364" y="3630167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Segoe UI"/>
              </a:rPr>
              <a:t>varias vistas de la misma pieza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00364" y="4151375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0B0B0B"/>
                </a:solidFill>
                <a:latin typeface="Segoe UI"/>
              </a:rPr>
              <a:t>Múltiples referencias por pieza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00364" y="4562855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Segoe UI"/>
              </a:rPr>
              <a:t>dos acabados o dos proveedores admisibles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00364" y="5084063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0B0B0B"/>
                </a:solidFill>
                <a:latin typeface="Segoe UI"/>
              </a:rPr>
              <a:t>Traducciones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00364" y="5495543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Segoe UI"/>
              </a:rPr>
              <a:t>los textos ya van con tr(); faltan los ficheros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Segoe UI"/>
              </a:rPr>
              <a:t>PC Inspector — inspección visual industrial offline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85655" y="6382512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Segoe U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256ABF"/>
                </a:solidFill>
                <a:latin typeface="Segoe UI"/>
              </a:rPr>
              <a:t>HONESTIDAD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100" b="0" i="0">
                <a:solidFill>
                  <a:srgbClr val="0B0B0B"/>
                </a:solidFill>
                <a:latin typeface="Segoe UI Light"/>
              </a:rPr>
              <a:t>Los riesgos, dichos en voz alta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664208"/>
            <a:ext cx="10637215" cy="0"/>
          </a:xfrm>
          <a:prstGeom prst="line">
            <a:avLst/>
          </a:prstGeom>
          <a:ln w="12700">
            <a:solidFill>
              <a:srgbClr val="E1E0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645919"/>
            <a:ext cx="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898781"/>
                </a:solidFill>
                <a:latin typeface="Segoe U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2728" y="1645919"/>
            <a:ext cx="34337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898781"/>
                </a:solidFill>
                <a:latin typeface="Segoe UI"/>
              </a:rPr>
              <a:t>Riesgo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19381" y="1645919"/>
            <a:ext cx="641219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898781"/>
                </a:solidFill>
                <a:latin typeface="Segoe UI"/>
              </a:rPr>
              <a:t>Mitigación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1956815"/>
            <a:ext cx="10637215" cy="0"/>
          </a:xfrm>
          <a:prstGeom prst="line">
            <a:avLst/>
          </a:prstGeom>
          <a:ln w="12700">
            <a:solidFill>
              <a:srgbClr val="0B0B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2084831"/>
            <a:ext cx="2243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2728" y="2084831"/>
            <a:ext cx="341548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 i="0">
                <a:solidFill>
                  <a:srgbClr val="0B0B0B"/>
                </a:solidFill>
                <a:latin typeface="Segoe UI"/>
              </a:rPr>
              <a:t>Exactitud limitada por la óptica de webcam y la distorsión de lente sin corregir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9381" y="2084831"/>
            <a:ext cx="639390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Calibración con patrón de ajedrez a medio plazo. Se posiciona como control dimensional de taller, no como metrología certificada.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" y="2642615"/>
            <a:ext cx="10637215" cy="0"/>
          </a:xfrm>
          <a:prstGeom prst="line">
            <a:avLst/>
          </a:prstGeom>
          <a:ln w="9525">
            <a:solidFill>
              <a:srgbClr val="E1E0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77240" y="2743199"/>
            <a:ext cx="2243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2728" y="2743199"/>
            <a:ext cx="341548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 i="0">
                <a:solidFill>
                  <a:srgbClr val="0B0B0B"/>
                </a:solidFill>
                <a:latin typeface="Segoe UI"/>
              </a:rPr>
              <a:t>Falsos NG por iluminación variable: Otsu sufre con degradados de sombra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9381" y="2743199"/>
            <a:ext cx="639390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Iluminación difusa y fondo mate, de coste casi nulo, más los perfiles de detección por pieza que ya existen.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7240" y="3300983"/>
            <a:ext cx="10637215" cy="0"/>
          </a:xfrm>
          <a:prstGeom prst="line">
            <a:avLst/>
          </a:prstGeom>
          <a:ln w="9525">
            <a:solidFill>
              <a:srgbClr val="E1E0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77240" y="3401567"/>
            <a:ext cx="2243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2728" y="3401567"/>
            <a:ext cx="341548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 i="0">
                <a:solidFill>
                  <a:srgbClr val="0B0B0B"/>
                </a:solidFill>
                <a:latin typeface="Segoe UI"/>
              </a:rPr>
              <a:t>El umbral de anomalía es estadístico y no está validado contra defectos reales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9381" y="3401567"/>
            <a:ext cx="639390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k ya es configurable. Con un puñado de piezas malas etiquetadas se fija por curva ROC en vez de asumir 3σ.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77240" y="3959351"/>
            <a:ext cx="10637215" cy="0"/>
          </a:xfrm>
          <a:prstGeom prst="line">
            <a:avLst/>
          </a:prstGeom>
          <a:ln w="9525">
            <a:solidFill>
              <a:srgbClr val="E1E0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77240" y="4059935"/>
            <a:ext cx="2243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2728" y="4059935"/>
            <a:ext cx="341548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 i="0">
                <a:solidFill>
                  <a:srgbClr val="0B0B0B"/>
                </a:solidFill>
                <a:latin typeface="Segoe UI"/>
              </a:rPr>
              <a:t>No cierra el bucle con la línea: sin PLC ni disparo por sensor, informa pero no actúa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19381" y="4059935"/>
            <a:ext cx="639390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Hoy se posiciona como estación de verificación y control de recepción. La salida digital está en el roadmap medio.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77240" y="4617719"/>
            <a:ext cx="10637215" cy="0"/>
          </a:xfrm>
          <a:prstGeom prst="line">
            <a:avLst/>
          </a:prstGeom>
          <a:ln w="9525">
            <a:solidFill>
              <a:srgbClr val="E1E0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77240" y="4718303"/>
            <a:ext cx="2243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2728" y="4718303"/>
            <a:ext cx="341548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1" i="0">
                <a:solidFill>
                  <a:srgbClr val="0B0B0B"/>
                </a:solidFill>
                <a:latin typeface="Segoe UI"/>
              </a:rPr>
              <a:t>Sin integración continua ni ejecutable firmado, un jefe de planta duda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19381" y="4718303"/>
            <a:ext cx="639390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Ambas en el horizonte corto. Mientras tanto, el paquete portable permite un piloto de riesgo bajo.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77240" y="5276087"/>
            <a:ext cx="10637215" cy="0"/>
          </a:xfrm>
          <a:prstGeom prst="line">
            <a:avLst/>
          </a:prstGeom>
          <a:ln w="9525">
            <a:solidFill>
              <a:srgbClr val="E1E0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777240" y="5349240"/>
            <a:ext cx="10637215" cy="713232"/>
          </a:xfrm>
          <a:prstGeom prst="rect">
            <a:avLst/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88136" y="5404104"/>
            <a:ext cx="1001542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52514E"/>
                </a:solidFill>
                <a:latin typeface="Segoe UI"/>
              </a:rPr>
              <a:t>Y lo que no conviene hacer: entrenar una red propia con las piezas de la línea —exige defectos etiquetados que no se tienen— y medir profundidad con esta cámara, que no es cuestión de software sino de hardware.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Segoe UI"/>
              </a:rPr>
              <a:t>PC Inspector — inspección visual industrial offline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85655" y="6382512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Segoe U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3987E5"/>
                </a:solidFill>
                <a:latin typeface="Segoe UI"/>
              </a:rPr>
              <a:t>LA PETICIÓN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100" b="0" i="0">
                <a:solidFill>
                  <a:srgbClr val="FFFFFF"/>
                </a:solidFill>
                <a:latin typeface="Segoe UI Light"/>
              </a:rPr>
              <a:t>Qué compra el patrocinio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1664208"/>
            <a:ext cx="10637215" cy="0"/>
          </a:xfrm>
          <a:prstGeom prst="line">
            <a:avLst/>
          </a:prstGeom>
          <a:ln w="12700">
            <a:solidFill>
              <a:srgbClr val="2C2C2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77240" y="2148840"/>
            <a:ext cx="2453563" cy="32004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2395728"/>
            <a:ext cx="22706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Segoe UI Light"/>
              </a:rPr>
              <a:t>Exactitud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52928"/>
            <a:ext cx="227068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C3C2B7"/>
                </a:solidFill>
                <a:latin typeface="Segoe UI"/>
              </a:rPr>
              <a:t>Calibración de lente y una óptica e iluminación adecuadas. Es la mejora de exactitud más seria pendiente, y la mitad es hardware barato.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5123" y="2148840"/>
            <a:ext cx="2453563" cy="32004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05123" y="2395728"/>
            <a:ext cx="22706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Segoe UI Light"/>
              </a:rPr>
              <a:t>Confianza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5123" y="2852928"/>
            <a:ext cx="227068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C3C2B7"/>
                </a:solidFill>
                <a:latin typeface="Segoe UI"/>
              </a:rPr>
              <a:t>Integración continua, ejecutable firmado e instalador. Hoy la verificación se hace a mano en la máquina de desarrollo.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148840"/>
            <a:ext cx="2453563" cy="32004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33007" y="2395728"/>
            <a:ext cx="22706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Segoe UI Light"/>
              </a:rPr>
              <a:t>Planta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852928"/>
            <a:ext cx="227068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C3C2B7"/>
                </a:solidFill>
                <a:latin typeface="Segoe UI"/>
              </a:rPr>
              <a:t>Disparo por sensor y salida a PLC: el paso de informar a actuar sobre la línea, que es lo que convierte la demo en producto.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0891" y="2148840"/>
            <a:ext cx="2453563" cy="32004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960891" y="2395728"/>
            <a:ext cx="22706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Segoe UI Light"/>
              </a:rPr>
              <a:t>Validación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0891" y="2852928"/>
            <a:ext cx="227068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C3C2B7"/>
                </a:solidFill>
                <a:latin typeface="Segoe UI"/>
              </a:rPr>
              <a:t>Un piloto real en taller, con piezas y defectos reales, para fijar el umbral por curva ROC en vez de asumir 3σ.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77240" y="4617720"/>
            <a:ext cx="10637215" cy="0"/>
          </a:xfrm>
          <a:prstGeom prst="line">
            <a:avLst/>
          </a:prstGeom>
          <a:ln w="12700">
            <a:solidFill>
              <a:srgbClr val="2C2C2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77240" y="4864608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 Light"/>
              </a:rPr>
              <a:t>Todo lo anterior está construido, medido y probado. Lo que falta no es la idea: es la validación en planta y el acabado industrial.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6188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C3C2B7"/>
                </a:solidFill>
                <a:latin typeface="Segoe UI"/>
              </a:rPr>
              <a:t>213 commits · 38.602 líneas · 969 pruebas · 32 herramientas · 0 € de licencia · 0 conexión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