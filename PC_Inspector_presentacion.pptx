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6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256A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822960" y="2103120"/>
            <a:ext cx="100584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5800" b="0" i="0">
                <a:solidFill>
                  <a:srgbClr val="FFFFFF"/>
                </a:solidFill>
                <a:latin typeface="Segoe UI Semilight"/>
              </a:rPr>
              <a:t>PC Inspector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127248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0" i="0">
                <a:solidFill>
                  <a:srgbClr val="B9BEC6"/>
                </a:solidFill>
                <a:latin typeface="Segoe UI"/>
              </a:rPr>
              <a:t>Inspección visual industrial de piezas 2D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22960" y="3886200"/>
            <a:ext cx="10545775" cy="0"/>
          </a:xfrm>
          <a:prstGeom prst="line">
            <a:avLst/>
          </a:prstGeom>
          <a:ln w="12700">
            <a:solidFill>
              <a:srgbClr val="2E323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822960" y="4133087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400" b="0" i="0">
                <a:solidFill>
                  <a:srgbClr val="B9BEC6"/>
                </a:solidFill>
                <a:latin typeface="Segoe UI"/>
              </a:rPr>
              <a:t>Aplicación de escritorio para Windows y Linux. Mide cotas sobre la pieza, compara su aspecto con el de una pieza patrón y emite un veredicto OK/NG. Funciona sin conexión y sin tarjeta gráfica.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577840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0" i="0">
                <a:solidFill>
                  <a:srgbClr val="B9BEC6"/>
                </a:solidFill>
                <a:latin typeface="Segoe UI"/>
              </a:rPr>
              <a:t>32 herramientas de medición   ·   tolerancias geométricas GD&amp;T   ·   comparación de apariencia   ·   base de datos local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19963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7A808A"/>
                </a:solidFill>
                <a:latin typeface="Segoe UI"/>
              </a:rPr>
              <a:t>C++20 · Qt 6 · OpenCV · ONNX Runtime · SQLite     Agosto de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48640"/>
            <a:ext cx="1054577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 i="0">
                <a:solidFill>
                  <a:srgbClr val="256ABF"/>
                </a:solidFill>
                <a:latin typeface="Segoe UI"/>
              </a:rPr>
              <a:t>EL PRODUCTO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41248"/>
            <a:ext cx="1054577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0" i="0">
                <a:solidFill>
                  <a:srgbClr val="14161A"/>
                </a:solidFill>
                <a:latin typeface="Segoe UI Semilight"/>
              </a:rPr>
              <a:t>Descripción general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22960" y="1481328"/>
            <a:ext cx="10545775" cy="0"/>
          </a:xfrm>
          <a:prstGeom prst="line">
            <a:avLst/>
          </a:prstGeom>
          <a:ln w="12700">
            <a:solidFill>
              <a:srgbClr val="DE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822960" y="1755648"/>
            <a:ext cx="4846320" cy="13401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50" b="0" i="0">
                <a:solidFill>
                  <a:srgbClr val="4A4F57"/>
                </a:solidFill>
                <a:latin typeface="Segoe UI"/>
              </a:rPr>
              <a:t>PC Inspector convierte una PC con una cámara USB en un puesto de verificación dimensional. Se registra una pieza correcta, se dibujan sobre ella las cotas a controlar y cada pieza que pase por la cámara recibe un veredicto con el valor medido de cada cota.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296981"/>
            <a:ext cx="1192377" cy="2819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0">
                <a:solidFill>
                  <a:srgbClr val="4A4F57"/>
                </a:solidFill>
                <a:latin typeface="Segoe UI"/>
              </a:rPr>
              <a:t>Entrada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79929" y="3296981"/>
            <a:ext cx="3489351" cy="2819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0">
                <a:solidFill>
                  <a:srgbClr val="14161A"/>
                </a:solidFill>
                <a:latin typeface="Segoe UI"/>
              </a:rPr>
              <a:t>Cámara USB o integrada, imagen o vídeo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22960" y="3644453"/>
            <a:ext cx="4846320" cy="0"/>
          </a:xfrm>
          <a:prstGeom prst="line">
            <a:avLst/>
          </a:prstGeom>
          <a:ln w="9525">
            <a:solidFill>
              <a:srgbClr val="EBEC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22960" y="3735893"/>
            <a:ext cx="1192377" cy="2819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0">
                <a:solidFill>
                  <a:srgbClr val="4A4F57"/>
                </a:solidFill>
                <a:latin typeface="Segoe UI"/>
              </a:rPr>
              <a:t>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79929" y="3735893"/>
            <a:ext cx="3489351" cy="2819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0">
                <a:solidFill>
                  <a:srgbClr val="14161A"/>
                </a:solidFill>
                <a:latin typeface="Segoe UI"/>
              </a:rPr>
              <a:t>Veredicto OK/NG y valor de cada cota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2960" y="4083365"/>
            <a:ext cx="4846320" cy="0"/>
          </a:xfrm>
          <a:prstGeom prst="line">
            <a:avLst/>
          </a:prstGeom>
          <a:ln w="9525">
            <a:solidFill>
              <a:srgbClr val="EBEC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4174805"/>
            <a:ext cx="1192377" cy="2819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0">
                <a:solidFill>
                  <a:srgbClr val="4A4F57"/>
                </a:solidFill>
                <a:latin typeface="Segoe UI"/>
              </a:rPr>
              <a:t>Unidades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79929" y="4174805"/>
            <a:ext cx="3489351" cy="2819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0">
                <a:solidFill>
                  <a:srgbClr val="14161A"/>
                </a:solidFill>
                <a:latin typeface="Segoe UI"/>
              </a:rPr>
              <a:t>Píxeles, milímetros o centímetros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22960" y="4522277"/>
            <a:ext cx="4846320" cy="0"/>
          </a:xfrm>
          <a:prstGeom prst="line">
            <a:avLst/>
          </a:prstGeom>
          <a:ln w="9525">
            <a:solidFill>
              <a:srgbClr val="EBEC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22960" y="4613717"/>
            <a:ext cx="1192377" cy="2819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0">
                <a:solidFill>
                  <a:srgbClr val="4A4F57"/>
                </a:solidFill>
                <a:latin typeface="Segoe UI"/>
              </a:rPr>
              <a:t>Registro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79929" y="4613717"/>
            <a:ext cx="3489351" cy="2819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0">
                <a:solidFill>
                  <a:srgbClr val="14161A"/>
                </a:solidFill>
                <a:latin typeface="Segoe UI"/>
              </a:rPr>
              <a:t>Historial con miniatura y estadísticas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22960" y="4961189"/>
            <a:ext cx="4846320" cy="0"/>
          </a:xfrm>
          <a:prstGeom prst="line">
            <a:avLst/>
          </a:prstGeom>
          <a:ln w="9525">
            <a:solidFill>
              <a:srgbClr val="EBEC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822960" y="5052629"/>
            <a:ext cx="1192377" cy="2819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0">
                <a:solidFill>
                  <a:srgbClr val="4A4F57"/>
                </a:solidFill>
                <a:latin typeface="Segoe UI"/>
              </a:rPr>
              <a:t>Datos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79929" y="5052629"/>
            <a:ext cx="3489351" cy="2819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0">
                <a:solidFill>
                  <a:srgbClr val="14161A"/>
                </a:solidFill>
                <a:latin typeface="Segoe UI"/>
              </a:rPr>
              <a:t>SQLite local, un solo fichero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822960" y="5400101"/>
            <a:ext cx="4846320" cy="0"/>
          </a:xfrm>
          <a:prstGeom prst="line">
            <a:avLst/>
          </a:prstGeom>
          <a:ln w="9525">
            <a:solidFill>
              <a:srgbClr val="EBEC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822960" y="5491541"/>
            <a:ext cx="1192377" cy="2819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0">
                <a:solidFill>
                  <a:srgbClr val="4A4F57"/>
                </a:solidFill>
                <a:latin typeface="Segoe UI"/>
              </a:rPr>
              <a:t>Conexión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79929" y="5491541"/>
            <a:ext cx="3489351" cy="2819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0">
                <a:solidFill>
                  <a:srgbClr val="14161A"/>
                </a:solidFill>
                <a:latin typeface="Segoe UI"/>
              </a:rPr>
              <a:t>Ninguna: sin nube ni servidor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822960" y="5839013"/>
            <a:ext cx="4846320" cy="0"/>
          </a:xfrm>
          <a:prstGeom prst="line">
            <a:avLst/>
          </a:prstGeom>
          <a:ln w="9525">
            <a:solidFill>
              <a:srgbClr val="EBEC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4" name="Picture 23" descr="02_deteccion_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1700784"/>
            <a:ext cx="5806440" cy="3759424"/>
          </a:xfrm>
          <a:prstGeom prst="rect">
            <a:avLst/>
          </a:prstGeom>
          <a:ln w="9525">
            <a:solidFill>
              <a:srgbClr val="DEE0E4"/>
            </a:solidFill>
          </a:ln>
        </p:spPr>
      </p:pic>
      <p:sp>
        <p:nvSpPr>
          <p:cNvPr id="25" name="TextBox 24"/>
          <p:cNvSpPr txBox="1"/>
          <p:nvPr/>
        </p:nvSpPr>
        <p:spPr>
          <a:xfrm>
            <a:off x="6035040" y="5569936"/>
            <a:ext cx="5806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50" b="0" i="0">
                <a:solidFill>
                  <a:srgbClr val="8A8F98"/>
                </a:solidFill>
                <a:latin typeface="Segoe UI"/>
              </a:rPr>
              <a:t>Vista de trabajo. El contorno detectado, el centro y el eje de la pieza se dibujan sobre la imagen en tiempo real.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6400800"/>
            <a:ext cx="6400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8A8F98"/>
                </a:solidFill>
                <a:latin typeface="Segoe UI"/>
              </a:rPr>
              <a:t>PC Inspector · inspección visual industrial 2D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88575" y="6400800"/>
            <a:ext cx="12801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8A8F98"/>
                </a:solidFill>
                <a:latin typeface="Segoe U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48640"/>
            <a:ext cx="1054577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 i="0">
                <a:solidFill>
                  <a:srgbClr val="256ABF"/>
                </a:solidFill>
                <a:latin typeface="Segoe UI"/>
              </a:rPr>
              <a:t>USO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41248"/>
            <a:ext cx="1054577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0" i="0">
                <a:solidFill>
                  <a:srgbClr val="14161A"/>
                </a:solidFill>
                <a:latin typeface="Segoe UI Semilight"/>
              </a:rPr>
              <a:t>Flujo de trabajo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22960" y="1481328"/>
            <a:ext cx="10545775" cy="0"/>
          </a:xfrm>
          <a:prstGeom prst="line">
            <a:avLst/>
          </a:prstGeom>
          <a:ln w="12700">
            <a:solidFill>
              <a:srgbClr val="DE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822960" y="1645920"/>
            <a:ext cx="1018001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4A4F57"/>
                </a:solidFill>
                <a:latin typeface="Segoe UI"/>
              </a:rPr>
              <a:t>Tres pasos. El primero se hace una vez por pieza; el tercero, una vez por unidad inspeccionada.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468880"/>
            <a:ext cx="3271418" cy="260604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133856" y="2743200"/>
            <a:ext cx="548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0" i="0">
                <a:solidFill>
                  <a:srgbClr val="86B6EF"/>
                </a:solidFill>
                <a:latin typeface="Segoe UI Semilight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" y="3346704"/>
            <a:ext cx="264962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14161A"/>
                </a:solidFill>
                <a:latin typeface="Segoe UI"/>
              </a:rPr>
              <a:t>Registrar la pieza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" y="3767328"/>
            <a:ext cx="2649626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4A4F57"/>
                </a:solidFill>
                <a:latin typeface="Segoe UI"/>
              </a:rPr>
              <a:t>Se capturan unas 30 imágenes de una pieza correcta. El programa localiza el contorno, calcula el centro y el eje, y guarda la referencia.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60138" y="2468880"/>
            <a:ext cx="3271418" cy="260604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4771034" y="2743200"/>
            <a:ext cx="548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0" i="0">
                <a:solidFill>
                  <a:srgbClr val="86B6EF"/>
                </a:solidFill>
                <a:latin typeface="Segoe UI Semilight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71034" y="3346704"/>
            <a:ext cx="264962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14161A"/>
                </a:solidFill>
                <a:latin typeface="Segoe UI"/>
              </a:rPr>
              <a:t>Definir la plantilla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71034" y="3767328"/>
            <a:ext cx="2649626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4A4F57"/>
                </a:solidFill>
                <a:latin typeface="Segoe UI"/>
              </a:rPr>
              <a:t>Sobre la pieza se dibujan las cotas y se fija la tolerancia de cada una. El programa sugiere ±10 % al trazarla.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97316" y="2468880"/>
            <a:ext cx="3271418" cy="260604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8408212" y="2743200"/>
            <a:ext cx="548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0" i="0">
                <a:solidFill>
                  <a:srgbClr val="86B6EF"/>
                </a:solidFill>
                <a:latin typeface="Segoe UI Semilight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08212" y="3346704"/>
            <a:ext cx="264962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14161A"/>
                </a:solidFill>
                <a:latin typeface="Segoe UI"/>
              </a:rPr>
              <a:t>Inspeccionar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08212" y="3767328"/>
            <a:ext cx="2649626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4A4F57"/>
                </a:solidFill>
                <a:latin typeface="Segoe UI"/>
              </a:rPr>
              <a:t>Cada pieza nueva se mide con esa plantilla. El resultado, con su miniatura y sus valores, queda en el historial.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5440680"/>
            <a:ext cx="1054577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0" i="0">
                <a:solidFill>
                  <a:srgbClr val="8A8F98"/>
                </a:solidFill>
                <a:latin typeface="Segoe UI"/>
              </a:rPr>
              <a:t>Una pieza puede tener varias plantillas —por ejemplo una por cara— y las plantillas se exportan a un fichero .json para copiarlas entre piezas o entre máquinas. La inspección puede lanzarse a mano o dejarse en automático a intervalo fijo.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6400800"/>
            <a:ext cx="6400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8A8F98"/>
                </a:solidFill>
                <a:latin typeface="Segoe UI"/>
              </a:rPr>
              <a:t>PC Inspector · inspección visual industrial 2D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88575" y="6400800"/>
            <a:ext cx="12801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8A8F98"/>
                </a:solidFill>
                <a:latin typeface="Segoe U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48640"/>
            <a:ext cx="1054577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 i="0">
                <a:solidFill>
                  <a:srgbClr val="256ABF"/>
                </a:solidFill>
                <a:latin typeface="Segoe UI"/>
              </a:rPr>
              <a:t>CATÁLOGO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41248"/>
            <a:ext cx="1054577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0" i="0">
                <a:solidFill>
                  <a:srgbClr val="14161A"/>
                </a:solidFill>
                <a:latin typeface="Segoe UI Semilight"/>
              </a:rPr>
              <a:t>Herramientas de medición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22960" y="1481328"/>
            <a:ext cx="10545775" cy="0"/>
          </a:xfrm>
          <a:prstGeom prst="line">
            <a:avLst/>
          </a:prstGeom>
          <a:ln w="12700">
            <a:solidFill>
              <a:srgbClr val="DE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822960" y="1645920"/>
            <a:ext cx="1018001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4A4F57"/>
                </a:solidFill>
                <a:latin typeface="Segoe UI"/>
              </a:rPr>
              <a:t>32 herramientas en cinco familias. Todas se trazan sobre la imagen y se guardan ancladas a la pieza, con su tolerancia.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395728"/>
            <a:ext cx="1948220" cy="32004"/>
          </a:xfrm>
          <a:prstGeom prst="rect">
            <a:avLst/>
          </a:prstGeom>
          <a:solidFill>
            <a:srgbClr val="256A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22960" y="2560320"/>
            <a:ext cx="18110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61A"/>
                </a:solidFill>
                <a:latin typeface="Segoe UI"/>
              </a:rPr>
              <a:t>Medición en línea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999232"/>
            <a:ext cx="18110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50" b="0" i="0">
                <a:solidFill>
                  <a:srgbClr val="8A8F98"/>
                </a:solidFill>
                <a:latin typeface="Segoe UI"/>
              </a:rPr>
              <a:t>La cota directa, la que aparece en un plano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602736"/>
            <a:ext cx="18110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4A4F57"/>
                </a:solidFill>
                <a:latin typeface="Segoe UI"/>
              </a:rPr>
              <a:t>Caliper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867912"/>
            <a:ext cx="18110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4A4F57"/>
                </a:solidFill>
                <a:latin typeface="Segoe UI"/>
              </a:rPr>
              <a:t>Círculo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4133088"/>
            <a:ext cx="18110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4A4F57"/>
                </a:solidFill>
                <a:latin typeface="Segoe UI"/>
              </a:rPr>
              <a:t>Punto-Línea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4398264"/>
            <a:ext cx="18110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4A4F57"/>
                </a:solidFill>
                <a:latin typeface="Segoe UI"/>
              </a:rPr>
              <a:t>Regla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4663440"/>
            <a:ext cx="18110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4A4F57"/>
                </a:solidFill>
                <a:latin typeface="Segoe UI"/>
              </a:rPr>
              <a:t>Línea-Línea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928616"/>
            <a:ext cx="18110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4A4F57"/>
                </a:solidFill>
                <a:latin typeface="Segoe UI"/>
              </a:rPr>
              <a:t>Ángulo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5193792"/>
            <a:ext cx="18110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4A4F57"/>
                </a:solidFill>
                <a:latin typeface="Segoe UI"/>
              </a:rPr>
              <a:t>Arco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5458968"/>
            <a:ext cx="18110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4A4F57"/>
                </a:solidFill>
                <a:latin typeface="Segoe UI"/>
              </a:rPr>
              <a:t>Holgura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972348" y="2395728"/>
            <a:ext cx="1948220" cy="32004"/>
          </a:xfrm>
          <a:prstGeom prst="rect">
            <a:avLst/>
          </a:prstGeom>
          <a:solidFill>
            <a:srgbClr val="256A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2972348" y="2560320"/>
            <a:ext cx="18110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61A"/>
                </a:solidFill>
                <a:latin typeface="Segoe UI"/>
              </a:rPr>
              <a:t>Figuras básicas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72348" y="2999232"/>
            <a:ext cx="18110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50" b="0" i="0">
                <a:solidFill>
                  <a:srgbClr val="8A8F98"/>
                </a:solidFill>
                <a:latin typeface="Segoe UI"/>
              </a:rPr>
              <a:t>Qué forma tiene la pieza y qué hay dentro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72348" y="3602736"/>
            <a:ext cx="18110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4A4F57"/>
                </a:solidFill>
                <a:latin typeface="Segoe UI"/>
              </a:rPr>
              <a:t>Región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72348" y="3867912"/>
            <a:ext cx="18110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4A4F57"/>
                </a:solidFill>
                <a:latin typeface="Segoe UI"/>
              </a:rPr>
              <a:t>Blob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72348" y="4133088"/>
            <a:ext cx="18110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4A4F57"/>
                </a:solidFill>
                <a:latin typeface="Segoe UI"/>
              </a:rPr>
              <a:t>Blob poligonal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72348" y="4398264"/>
            <a:ext cx="18110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4A4F57"/>
                </a:solidFill>
                <a:latin typeface="Segoe UI"/>
              </a:rPr>
              <a:t>Borde liso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72348" y="4663440"/>
            <a:ext cx="18110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4A4F57"/>
                </a:solidFill>
                <a:latin typeface="Segoe UI"/>
              </a:rPr>
              <a:t>Simetría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72348" y="4928616"/>
            <a:ext cx="18110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4A4F57"/>
                </a:solidFill>
                <a:latin typeface="Segoe UI"/>
              </a:rPr>
              <a:t>Lados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972348" y="5193792"/>
            <a:ext cx="18110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4A4F57"/>
                </a:solidFill>
                <a:latin typeface="Segoe UI"/>
              </a:rPr>
              <a:t>Rebabas y mellas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121737" y="2395728"/>
            <a:ext cx="1948220" cy="32004"/>
          </a:xfrm>
          <a:prstGeom prst="rect">
            <a:avLst/>
          </a:prstGeom>
          <a:solidFill>
            <a:srgbClr val="256A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5121737" y="2560320"/>
            <a:ext cx="18110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61A"/>
                </a:solidFill>
                <a:latin typeface="Segoe UI"/>
              </a:rPr>
              <a:t>Máx./mín. y torneadas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121737" y="2999232"/>
            <a:ext cx="18110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50" b="0" i="0">
                <a:solidFill>
                  <a:srgbClr val="8A8F98"/>
                </a:solidFill>
                <a:latin typeface="Segoe UI"/>
              </a:rPr>
              <a:t>Extremos y piezas de torno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121737" y="3602736"/>
            <a:ext cx="18110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4A4F57"/>
                </a:solidFill>
                <a:latin typeface="Segoe UI"/>
              </a:rPr>
              <a:t>Eje / Diámetro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121737" y="3867912"/>
            <a:ext cx="18110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4A4F57"/>
                </a:solidFill>
                <a:latin typeface="Segoe UI"/>
              </a:rPr>
              <a:t>Rosca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21737" y="4133088"/>
            <a:ext cx="18110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4A4F57"/>
                </a:solidFill>
                <a:latin typeface="Segoe UI"/>
              </a:rPr>
              <a:t>Engranaje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121737" y="4398264"/>
            <a:ext cx="18110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4A4F57"/>
                </a:solidFill>
                <a:latin typeface="Segoe UI"/>
              </a:rPr>
              <a:t>Máx./mín.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121737" y="4663440"/>
            <a:ext cx="18110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4A4F57"/>
                </a:solidFill>
                <a:latin typeface="Segoe UI"/>
              </a:rPr>
              <a:t>Chaflán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121737" y="4928616"/>
            <a:ext cx="18110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4A4F57"/>
                </a:solidFill>
                <a:latin typeface="Segoe UI"/>
              </a:rPr>
              <a:t>Radio de acuerdo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21737" y="5193792"/>
            <a:ext cx="18110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4A4F57"/>
                </a:solidFill>
                <a:latin typeface="Segoe UI"/>
              </a:rPr>
              <a:t>Ranura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271125" y="2395728"/>
            <a:ext cx="1948220" cy="32004"/>
          </a:xfrm>
          <a:prstGeom prst="rect">
            <a:avLst/>
          </a:prstGeom>
          <a:solidFill>
            <a:srgbClr val="256A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7271125" y="2560320"/>
            <a:ext cx="18110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61A"/>
                </a:solidFill>
                <a:latin typeface="Segoe UI"/>
              </a:rPr>
              <a:t>GD&amp;T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71125" y="2999232"/>
            <a:ext cx="18110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50" b="0" i="0">
                <a:solidFill>
                  <a:srgbClr val="8A8F98"/>
                </a:solidFill>
                <a:latin typeface="Segoe UI"/>
              </a:rPr>
              <a:t>Tolerancias geométricas contra una referencia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271125" y="3602736"/>
            <a:ext cx="18110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4A4F57"/>
                </a:solidFill>
                <a:latin typeface="Segoe UI"/>
              </a:rPr>
              <a:t>Posición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71125" y="3867912"/>
            <a:ext cx="18110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4A4F57"/>
                </a:solidFill>
                <a:latin typeface="Segoe UI"/>
              </a:rPr>
              <a:t>Rectitud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271125" y="4133088"/>
            <a:ext cx="18110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4A4F57"/>
                </a:solidFill>
                <a:latin typeface="Segoe UI"/>
              </a:rPr>
              <a:t>Redondez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271125" y="4398264"/>
            <a:ext cx="18110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4A4F57"/>
                </a:solidFill>
                <a:latin typeface="Segoe UI"/>
              </a:rPr>
              <a:t>Orientación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271125" y="4663440"/>
            <a:ext cx="18110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4A4F57"/>
                </a:solidFill>
                <a:latin typeface="Segoe UI"/>
              </a:rPr>
              <a:t>Desviación de centros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271125" y="4928616"/>
            <a:ext cx="18110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4A4F57"/>
                </a:solidFill>
                <a:latin typeface="Segoe UI"/>
              </a:rPr>
              <a:t>Patrón de agujeros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271125" y="5193792"/>
            <a:ext cx="18110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4A4F57"/>
                </a:solidFill>
                <a:latin typeface="Segoe UI"/>
              </a:rPr>
              <a:t>Perfil de línea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420514" y="2395728"/>
            <a:ext cx="1948220" cy="32004"/>
          </a:xfrm>
          <a:prstGeom prst="rect">
            <a:avLst/>
          </a:prstGeom>
          <a:solidFill>
            <a:srgbClr val="256A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9420514" y="2560320"/>
            <a:ext cx="18110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61A"/>
                </a:solidFill>
                <a:latin typeface="Segoe UI"/>
              </a:rPr>
              <a:t>Construcciones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420514" y="2999232"/>
            <a:ext cx="18110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50" b="0" i="0">
                <a:solidFill>
                  <a:srgbClr val="8A8F98"/>
                </a:solidFill>
                <a:latin typeface="Segoe UI"/>
              </a:rPr>
              <a:t>Elementos derivados que sirven de datum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420514" y="3602736"/>
            <a:ext cx="18110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4A4F57"/>
                </a:solidFill>
                <a:latin typeface="Segoe UI"/>
              </a:rPr>
              <a:t>Punto construido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420514" y="3867912"/>
            <a:ext cx="18110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4A4F57"/>
                </a:solidFill>
                <a:latin typeface="Segoe UI"/>
              </a:rPr>
              <a:t>Recta construida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420514" y="4133088"/>
            <a:ext cx="18110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4A4F57"/>
                </a:solidFill>
                <a:latin typeface="Segoe UI"/>
              </a:rPr>
              <a:t>Eje medio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22960" y="5760720"/>
            <a:ext cx="1054577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0" i="0">
                <a:solidFill>
                  <a:srgbClr val="8A8F98"/>
                </a:solidFill>
                <a:latin typeface="Segoe UI"/>
              </a:rPr>
              <a:t>Rectitud y redondez se calculan por zona mínima: el ancho de la banda —o del anillo— más estrecho que contiene los puntos, que es la definición de la norma. El ajuste por mínimos cuadrados devuelve siempre un valor igual o mayor, y rechazaría piezas buenas.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22960" y="6400800"/>
            <a:ext cx="6400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8A8F98"/>
                </a:solidFill>
                <a:latin typeface="Segoe UI"/>
              </a:rPr>
              <a:t>PC Inspector · inspección visual industrial 2D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088575" y="6400800"/>
            <a:ext cx="12801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8A8F98"/>
                </a:solidFill>
                <a:latin typeface="Segoe U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48640"/>
            <a:ext cx="1054577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 i="0">
                <a:solidFill>
                  <a:srgbClr val="256ABF"/>
                </a:solidFill>
                <a:latin typeface="Segoe UI"/>
              </a:rPr>
              <a:t>FUNDAMENTO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41248"/>
            <a:ext cx="1054577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0" i="0">
                <a:solidFill>
                  <a:srgbClr val="14161A"/>
                </a:solidFill>
                <a:latin typeface="Segoe UI Semilight"/>
              </a:rPr>
              <a:t>Anclaje a la pieza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22960" y="1481328"/>
            <a:ext cx="10545775" cy="0"/>
          </a:xfrm>
          <a:prstGeom prst="line">
            <a:avLst/>
          </a:prstGeom>
          <a:ln w="12700">
            <a:solidFill>
              <a:srgbClr val="DE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822960" y="1755648"/>
            <a:ext cx="4617720" cy="13401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50" b="0" i="0">
                <a:solidFill>
                  <a:srgbClr val="4A4F57"/>
                </a:solidFill>
                <a:latin typeface="Segoe UI"/>
              </a:rPr>
              <a:t>Las herramientas no se guardan en coordenadas de la imagen, sino en el sistema de coordenadas de la pieza: origen en su centro, eje X sobre su eje principal. Si la pieza llega girada o desplazada, las cotas se mueven con ella y el valor medido no cambia.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33557"/>
            <a:ext cx="1405432" cy="472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0">
                <a:solidFill>
                  <a:srgbClr val="4A4F57"/>
                </a:solidFill>
                <a:latin typeface="Segoe UI"/>
              </a:rPr>
              <a:t>Verificación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92984" y="3333557"/>
            <a:ext cx="3047696" cy="472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0">
                <a:solidFill>
                  <a:srgbClr val="14161A"/>
                </a:solidFill>
                <a:latin typeface="Segoe UI"/>
              </a:rPr>
              <a:t>La misma barra a 0°, 20°, 45°, 70° y 120° devuelve el mismo valor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22960" y="3842573"/>
            <a:ext cx="4617720" cy="0"/>
          </a:xfrm>
          <a:prstGeom prst="line">
            <a:avLst/>
          </a:prstGeom>
          <a:ln w="9525">
            <a:solidFill>
              <a:srgbClr val="EBEC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22960" y="3934013"/>
            <a:ext cx="1405432" cy="472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0">
                <a:solidFill>
                  <a:srgbClr val="4A4F57"/>
                </a:solidFill>
                <a:latin typeface="Segoe UI"/>
              </a:rPr>
              <a:t>Estabilización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92984" y="3934013"/>
            <a:ext cx="3047696" cy="472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0">
                <a:solidFill>
                  <a:srgbClr val="14161A"/>
                </a:solidFill>
                <a:latin typeface="Segoe UI"/>
              </a:rPr>
              <a:t>Banda muerta, media exponencial o salto, según cuánto se mueva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2960" y="4443029"/>
            <a:ext cx="4617720" cy="0"/>
          </a:xfrm>
          <a:prstGeom prst="line">
            <a:avLst/>
          </a:prstGeom>
          <a:ln w="9525">
            <a:solidFill>
              <a:srgbClr val="EBEC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4534469"/>
            <a:ext cx="1405432" cy="472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0">
                <a:solidFill>
                  <a:srgbClr val="4A4F57"/>
                </a:solidFill>
                <a:latin typeface="Segoe UI"/>
              </a:rPr>
              <a:t>Piezas simétricas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92984" y="4534469"/>
            <a:ext cx="3047696" cy="472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0">
                <a:solidFill>
                  <a:srgbClr val="14161A"/>
                </a:solidFill>
                <a:latin typeface="Segoe UI"/>
              </a:rPr>
              <a:t>Bajo un umbral de anisotropía el ángulo se congela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22960" y="5043485"/>
            <a:ext cx="4617720" cy="0"/>
          </a:xfrm>
          <a:prstGeom prst="line">
            <a:avLst/>
          </a:prstGeom>
          <a:ln w="9525">
            <a:solidFill>
              <a:srgbClr val="EBEC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22960" y="5134925"/>
            <a:ext cx="1405432" cy="472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0">
                <a:solidFill>
                  <a:srgbClr val="4A4F57"/>
                </a:solidFill>
                <a:latin typeface="Segoe UI"/>
              </a:rPr>
              <a:t>Rasgo distintivo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92984" y="5134925"/>
            <a:ext cx="3047696" cy="472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0">
                <a:solidFill>
                  <a:srgbClr val="14161A"/>
                </a:solidFill>
                <a:latin typeface="Segoe UI"/>
              </a:rPr>
              <a:t>Un punto marcado por el operador resuelve la ambigüedad de 180°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22960" y="5643941"/>
            <a:ext cx="4617720" cy="0"/>
          </a:xfrm>
          <a:prstGeom prst="line">
            <a:avLst/>
          </a:prstGeom>
          <a:ln w="9525">
            <a:solidFill>
              <a:srgbClr val="EBEC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8" name="Picture 17" descr="04_caliper_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700784"/>
            <a:ext cx="5897880" cy="3818627"/>
          </a:xfrm>
          <a:prstGeom prst="rect">
            <a:avLst/>
          </a:prstGeom>
          <a:ln w="9525">
            <a:solidFill>
              <a:srgbClr val="DEE0E4"/>
            </a:solidFill>
          </a:ln>
        </p:spPr>
      </p:pic>
      <p:sp>
        <p:nvSpPr>
          <p:cNvPr id="19" name="TextBox 18"/>
          <p:cNvSpPr txBox="1"/>
          <p:nvPr/>
        </p:nvSpPr>
        <p:spPr>
          <a:xfrm>
            <a:off x="5943600" y="5629139"/>
            <a:ext cx="5897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50" b="0" i="0">
                <a:solidFill>
                  <a:srgbClr val="8A8F98"/>
                </a:solidFill>
                <a:latin typeface="Segoe UI"/>
              </a:rPr>
              <a:t>Caliper trazado sobre el brazo vertical: localiza los dos bordes por perfil de intensidad, los refina a subpíxel y mide 50,0 px.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400800"/>
            <a:ext cx="6400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8A8F98"/>
                </a:solidFill>
                <a:latin typeface="Segoe UI"/>
              </a:rPr>
              <a:t>PC Inspector · inspección visual industrial 2D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88575" y="6400800"/>
            <a:ext cx="12801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8A8F98"/>
                </a:solidFill>
                <a:latin typeface="Segoe U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48640"/>
            <a:ext cx="1054577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 i="0">
                <a:solidFill>
                  <a:srgbClr val="256ABF"/>
                </a:solidFill>
                <a:latin typeface="Segoe UI"/>
              </a:rPr>
              <a:t>FUNCIÓN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41248"/>
            <a:ext cx="1054577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0" i="0">
                <a:solidFill>
                  <a:srgbClr val="14161A"/>
                </a:solidFill>
                <a:latin typeface="Segoe UI Semilight"/>
              </a:rPr>
              <a:t>Medición automática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22960" y="1481328"/>
            <a:ext cx="10545775" cy="0"/>
          </a:xfrm>
          <a:prstGeom prst="line">
            <a:avLst/>
          </a:prstGeom>
          <a:ln w="12700">
            <a:solidFill>
              <a:srgbClr val="DE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822960" y="1755648"/>
            <a:ext cx="5120640" cy="11087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50" b="0" i="0">
                <a:solidFill>
                  <a:srgbClr val="4A4F57"/>
                </a:solidFill>
                <a:latin typeface="Segoe UI"/>
              </a:rPr>
              <a:t>El botón «Medir pieza» descompone el contorno en tramos rectos y arcos y propone las cotas que corresponden a esa forma, sin que haya que dibujar nada. Es la vía rápida para una pieza nueva o para una verificación puntual.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102100"/>
            <a:ext cx="1576425" cy="472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0">
                <a:solidFill>
                  <a:srgbClr val="4A4F57"/>
                </a:solidFill>
                <a:latin typeface="Segoe UI"/>
              </a:rPr>
              <a:t>Qué devuelve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63977" y="3102100"/>
            <a:ext cx="3379623" cy="472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0">
                <a:solidFill>
                  <a:srgbClr val="14161A"/>
                </a:solidFill>
                <a:latin typeface="Segoe UI"/>
              </a:rPr>
              <a:t>Perímetro, área, envolvente, agujeros, circularidad, tramos y arcos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22960" y="3611116"/>
            <a:ext cx="5120640" cy="0"/>
          </a:xfrm>
          <a:prstGeom prst="line">
            <a:avLst/>
          </a:prstGeom>
          <a:ln w="9525">
            <a:solidFill>
              <a:srgbClr val="EBEC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22960" y="3702556"/>
            <a:ext cx="1576425" cy="472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0">
                <a:solidFill>
                  <a:srgbClr val="4A4F57"/>
                </a:solidFill>
                <a:latin typeface="Segoe UI"/>
              </a:rPr>
              <a:t>Cotas deducidas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63977" y="3702556"/>
            <a:ext cx="3379623" cy="472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0">
                <a:solidFill>
                  <a:srgbClr val="14161A"/>
                </a:solidFill>
                <a:latin typeface="Segoe UI"/>
              </a:rPr>
              <a:t>Lados, ángulos, diámetros y radios propios de la forma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2960" y="4211572"/>
            <a:ext cx="5120640" cy="0"/>
          </a:xfrm>
          <a:prstGeom prst="line">
            <a:avLst/>
          </a:prstGeom>
          <a:ln w="9525">
            <a:solidFill>
              <a:srgbClr val="EBEC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4303012"/>
            <a:ext cx="1576425" cy="472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0">
                <a:solidFill>
                  <a:srgbClr val="4A4F57"/>
                </a:solidFill>
                <a:latin typeface="Segoe UI"/>
              </a:rPr>
              <a:t>Procedencia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63977" y="4303012"/>
            <a:ext cx="3379623" cy="472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0">
                <a:solidFill>
                  <a:srgbClr val="14161A"/>
                </a:solidFill>
                <a:latin typeface="Segoe UI"/>
              </a:rPr>
              <a:t>Cada cota indica de qué elemento del contorno sale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22960" y="4812028"/>
            <a:ext cx="5120640" cy="0"/>
          </a:xfrm>
          <a:prstGeom prst="line">
            <a:avLst/>
          </a:prstGeom>
          <a:ln w="9525">
            <a:solidFill>
              <a:srgbClr val="EBEC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22960" y="4903468"/>
            <a:ext cx="1576425" cy="472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0">
                <a:solidFill>
                  <a:srgbClr val="4A4F57"/>
                </a:solidFill>
                <a:latin typeface="Segoe UI"/>
              </a:rPr>
              <a:t>Salida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63977" y="4903468"/>
            <a:ext cx="3379623" cy="472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0">
                <a:solidFill>
                  <a:srgbClr val="14161A"/>
                </a:solidFill>
                <a:latin typeface="Segoe UI"/>
              </a:rPr>
              <a:t>Copiar al portapapeles, exportar a CSV o convertir en criterio OK/NG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22960" y="5412484"/>
            <a:ext cx="5120640" cy="0"/>
          </a:xfrm>
          <a:prstGeom prst="line">
            <a:avLst/>
          </a:prstGeom>
          <a:ln w="9525">
            <a:solidFill>
              <a:srgbClr val="EBEC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8" name="Picture 17" descr="03_medid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1700784"/>
            <a:ext cx="5532120" cy="4012972"/>
          </a:xfrm>
          <a:prstGeom prst="rect">
            <a:avLst/>
          </a:prstGeom>
          <a:ln w="9525">
            <a:solidFill>
              <a:srgbClr val="DEE0E4"/>
            </a:solidFill>
          </a:ln>
        </p:spPr>
      </p:pic>
      <p:sp>
        <p:nvSpPr>
          <p:cNvPr id="19" name="TextBox 18"/>
          <p:cNvSpPr txBox="1"/>
          <p:nvPr/>
        </p:nvSpPr>
        <p:spPr>
          <a:xfrm>
            <a:off x="6446520" y="5823484"/>
            <a:ext cx="5532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50" b="0" i="0">
                <a:solidFill>
                  <a:srgbClr val="8A8F98"/>
                </a:solidFill>
                <a:latin typeface="Segoe UI"/>
              </a:rPr>
              <a:t>Resultado sobre la pieza de muestra: polígono de 6 lados, perímetro 676,47 px, área 13.906,50 px², un agujero y 15 cotas deducidas.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400800"/>
            <a:ext cx="6400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8A8F98"/>
                </a:solidFill>
                <a:latin typeface="Segoe UI"/>
              </a:rPr>
              <a:t>PC Inspector · inspección visual industrial 2D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88575" y="6400800"/>
            <a:ext cx="12801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8A8F98"/>
                </a:solidFill>
                <a:latin typeface="Segoe U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48640"/>
            <a:ext cx="1054577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 i="0">
                <a:solidFill>
                  <a:srgbClr val="256ABF"/>
                </a:solidFill>
                <a:latin typeface="Segoe UI"/>
              </a:rPr>
              <a:t>FUNCIÓN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41248"/>
            <a:ext cx="1054577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0" i="0">
                <a:solidFill>
                  <a:srgbClr val="14161A"/>
                </a:solidFill>
                <a:latin typeface="Segoe UI Semilight"/>
              </a:rPr>
              <a:t>Comparación de apariencia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22960" y="1481328"/>
            <a:ext cx="10545775" cy="0"/>
          </a:xfrm>
          <a:prstGeom prst="line">
            <a:avLst/>
          </a:prstGeom>
          <a:ln w="12700">
            <a:solidFill>
              <a:srgbClr val="DE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822960" y="1645920"/>
            <a:ext cx="1018001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4A4F57"/>
                </a:solidFill>
                <a:latin typeface="Segoe UI"/>
              </a:rPr>
              <a:t>Además de las cotas, el programa compara el aspecto de la pieza con el de la referencia. Cubre lo que no se puede acotar: manchas, marcas, falta de acabado, piezas cambiadas.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331720"/>
            <a:ext cx="1887321" cy="472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0">
                <a:solidFill>
                  <a:srgbClr val="4A4F57"/>
                </a:solidFill>
                <a:latin typeface="Segoe UI"/>
              </a:rPr>
              <a:t>Modelo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74873" y="2331720"/>
            <a:ext cx="3983127" cy="472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0">
                <a:solidFill>
                  <a:srgbClr val="14161A"/>
                </a:solidFill>
                <a:latin typeface="Segoe UI"/>
              </a:rPr>
              <a:t>EfficientNet-Lite4 en ONNX Runtime, 49 MB, sin reentrenar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22960" y="2840736"/>
            <a:ext cx="6035040" cy="0"/>
          </a:xfrm>
          <a:prstGeom prst="line">
            <a:avLst/>
          </a:prstGeom>
          <a:ln w="9525">
            <a:solidFill>
              <a:srgbClr val="EBEC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22960" y="2932176"/>
            <a:ext cx="1887321" cy="2819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0">
                <a:solidFill>
                  <a:srgbClr val="4A4F57"/>
                </a:solidFill>
                <a:latin typeface="Segoe UI"/>
              </a:rPr>
              <a:t>Descriptor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74873" y="2932176"/>
            <a:ext cx="3983127" cy="2819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0">
                <a:solidFill>
                  <a:srgbClr val="14161A"/>
                </a:solidFill>
                <a:latin typeface="Segoe UI"/>
              </a:rPr>
              <a:t>Vector de 1.280 dimensiones por pieza, normalizado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2960" y="3279648"/>
            <a:ext cx="6035040" cy="0"/>
          </a:xfrm>
          <a:prstGeom prst="line">
            <a:avLst/>
          </a:prstGeom>
          <a:ln w="9525">
            <a:solidFill>
              <a:srgbClr val="EBEC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371088"/>
            <a:ext cx="1887321" cy="472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0">
                <a:solidFill>
                  <a:srgbClr val="4A4F57"/>
                </a:solidFill>
                <a:latin typeface="Segoe UI"/>
              </a:rPr>
              <a:t>Entrada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74873" y="3371088"/>
            <a:ext cx="3983127" cy="472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0">
                <a:solidFill>
                  <a:srgbClr val="14161A"/>
                </a:solidFill>
                <a:latin typeface="Segoe UI"/>
              </a:rPr>
              <a:t>Recorte de 256×256 sin fondo, ya orientado por el fixture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22960" y="3880104"/>
            <a:ext cx="6035040" cy="0"/>
          </a:xfrm>
          <a:prstGeom prst="line">
            <a:avLst/>
          </a:prstGeom>
          <a:ln w="9525">
            <a:solidFill>
              <a:srgbClr val="EBEC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22960" y="3971544"/>
            <a:ext cx="1887321" cy="472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0">
                <a:solidFill>
                  <a:srgbClr val="4A4F57"/>
                </a:solidFill>
                <a:latin typeface="Segoe UI"/>
              </a:rPr>
              <a:t>Criterio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74873" y="3971544"/>
            <a:ext cx="3983127" cy="472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0">
                <a:solidFill>
                  <a:srgbClr val="14161A"/>
                </a:solidFill>
                <a:latin typeface="Segoe UI"/>
              </a:rPr>
              <a:t>Similitud coseno contra la referencia; umbral en media − max(k·σ, 0,02)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22960" y="4480560"/>
            <a:ext cx="6035040" cy="0"/>
          </a:xfrm>
          <a:prstGeom prst="line">
            <a:avLst/>
          </a:prstGeom>
          <a:ln w="9525">
            <a:solidFill>
              <a:srgbClr val="EBEC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822960" y="4572000"/>
            <a:ext cx="1887321" cy="472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0">
                <a:solidFill>
                  <a:srgbClr val="4A4F57"/>
                </a:solidFill>
                <a:latin typeface="Segoe UI"/>
              </a:rPr>
              <a:t>Ajuste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74873" y="4572000"/>
            <a:ext cx="3983127" cy="472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0">
                <a:solidFill>
                  <a:srgbClr val="14161A"/>
                </a:solidFill>
                <a:latin typeface="Segoe UI"/>
              </a:rPr>
              <a:t>k configurable, 3 por defecto: más bajo, más estricto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822960" y="5081016"/>
            <a:ext cx="6035040" cy="0"/>
          </a:xfrm>
          <a:prstGeom prst="line">
            <a:avLst/>
          </a:prstGeom>
          <a:ln w="9525">
            <a:solidFill>
              <a:srgbClr val="EBEC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7406640" y="2267712"/>
            <a:ext cx="3962095" cy="306324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7717536" y="2487168"/>
            <a:ext cx="334030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14161A"/>
                </a:solidFill>
                <a:latin typeface="Segoe UI"/>
              </a:rPr>
              <a:t>Sin imágenes de piezas defectuosas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17536" y="2834640"/>
            <a:ext cx="3340303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50" b="0" i="0">
                <a:solidFill>
                  <a:srgbClr val="4A4F57"/>
                </a:solidFill>
                <a:latin typeface="Segoe UI"/>
              </a:rPr>
              <a:t>El sistema solo ve piezas correctas. La referencia se calcula a partir de ellas y se actualiza con cada pieza confirmada, conservando las versiones anteriores.
No hay entrenamiento ni reentrenamiento: el modelo va congelado y se usa solo como extractor de características.
Si el modelo no está disponible, la inspección sigue funcionando con las herramientas geométricas.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5669280"/>
            <a:ext cx="1054577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0" i="0">
                <a:solidFill>
                  <a:srgbClr val="8A8F98"/>
                </a:solidFill>
                <a:latin typeface="Segoe UI"/>
              </a:rPr>
              <a:t>Enfoque equivalente al de PaDiM, PatchCore o SPADE del banco de pruebas MVTec AD, en una versión ligera: un vector por pieza en lugar de un banco de parches, para poder ejecutarse sin tarjeta gráfica.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6400800"/>
            <a:ext cx="6400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8A8F98"/>
                </a:solidFill>
                <a:latin typeface="Segoe UI"/>
              </a:rPr>
              <a:t>PC Inspector · inspección visual industrial 2D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88575" y="6400800"/>
            <a:ext cx="12801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8A8F98"/>
                </a:solidFill>
                <a:latin typeface="Segoe U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48640"/>
            <a:ext cx="1054577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 i="0">
                <a:solidFill>
                  <a:srgbClr val="256ABF"/>
                </a:solidFill>
                <a:latin typeface="Segoe UI"/>
              </a:rPr>
              <a:t>METROLOGÍA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41248"/>
            <a:ext cx="1054577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0" i="0">
                <a:solidFill>
                  <a:srgbClr val="14161A"/>
                </a:solidFill>
                <a:latin typeface="Segoe UI Semilight"/>
              </a:rPr>
              <a:t>Escala real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22960" y="1481328"/>
            <a:ext cx="10545775" cy="0"/>
          </a:xfrm>
          <a:prstGeom prst="line">
            <a:avLst/>
          </a:prstGeom>
          <a:ln w="12700">
            <a:solidFill>
              <a:srgbClr val="DE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822960" y="1645920"/>
            <a:ext cx="1018001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4A4F57"/>
                </a:solidFill>
                <a:latin typeface="Segoe UI"/>
              </a:rPr>
              <a:t>Tres formas de pasar de píxeles a milímetros, según lo que haya disponible en el puesto.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331720"/>
            <a:ext cx="32004" cy="1417320"/>
          </a:xfrm>
          <a:prstGeom prst="rect">
            <a:avLst/>
          </a:prstGeom>
          <a:solidFill>
            <a:srgbClr val="256A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078992" y="2331720"/>
            <a:ext cx="290565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14161A"/>
                </a:solidFill>
                <a:latin typeface="Segoe UI"/>
              </a:rPr>
              <a:t>Objeto de referencia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" y="2743200"/>
            <a:ext cx="2905658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4A4F57"/>
                </a:solidFill>
                <a:latin typeface="Segoe UI"/>
              </a:rPr>
              <a:t>Se mide algo de tamaño conocido y se escribe su medida real. Directo y exacto en el plano de trabajo.</a:t>
            </a:r>
          </a:p>
        </p:txBody>
      </p:sp>
      <p:sp>
        <p:nvSpPr>
          <p:cNvPr id="9" name="Rectangle 8"/>
          <p:cNvSpPr/>
          <p:nvPr/>
        </p:nvSpPr>
        <p:spPr>
          <a:xfrm>
            <a:off x="4460138" y="2331720"/>
            <a:ext cx="32004" cy="1417320"/>
          </a:xfrm>
          <a:prstGeom prst="rect">
            <a:avLst/>
          </a:prstGeom>
          <a:solidFill>
            <a:srgbClr val="256A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4716170" y="2331720"/>
            <a:ext cx="290565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14161A"/>
                </a:solidFill>
                <a:latin typeface="Segoe UI"/>
              </a:rPr>
              <a:t>Distancia y campo de visión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16170" y="2743200"/>
            <a:ext cx="2905658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4A4F57"/>
                </a:solidFill>
                <a:latin typeface="Segoe UI"/>
              </a:rPr>
              <a:t>Modelo estenopeico a partir de la distancia de la cámara y su ángulo. Útil cuando no hay patrón a mano.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97316" y="2331720"/>
            <a:ext cx="32004" cy="1417320"/>
          </a:xfrm>
          <a:prstGeom prst="rect">
            <a:avLst/>
          </a:prstGeom>
          <a:solidFill>
            <a:srgbClr val="256A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353348" y="2331720"/>
            <a:ext cx="290565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14161A"/>
                </a:solidFill>
                <a:latin typeface="Segoe UI"/>
              </a:rPr>
              <a:t>Marcador ArUco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53348" y="2743200"/>
            <a:ext cx="2905658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4A4F57"/>
                </a:solidFill>
                <a:latin typeface="Segoe UI"/>
              </a:rPr>
              <a:t>Un marcador de lado conocido da la homografía del plano: corrige la perspectiva y se reajusta al acercar o alejar la cámara.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4160520"/>
            <a:ext cx="1522732" cy="472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0">
                <a:solidFill>
                  <a:srgbClr val="4A4F57"/>
                </a:solidFill>
                <a:latin typeface="Segoe UI"/>
              </a:rPr>
              <a:t>Vigencia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10284" y="4160520"/>
            <a:ext cx="8858451" cy="472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0">
                <a:solidFill>
                  <a:srgbClr val="14161A"/>
                </a:solidFill>
                <a:latin typeface="Segoe UI"/>
              </a:rPr>
              <a:t>La calibración queda ligada a la cámara y la resolución con las que se hizo; si cambia alguna, el programa avisa de que ha dejado de valer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22960" y="4724400"/>
            <a:ext cx="10545775" cy="0"/>
          </a:xfrm>
          <a:prstGeom prst="line">
            <a:avLst/>
          </a:prstGeom>
          <a:ln w="9525">
            <a:solidFill>
              <a:srgbClr val="EBEC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822960" y="4815840"/>
            <a:ext cx="1522732" cy="472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0">
                <a:solidFill>
                  <a:srgbClr val="4A4F57"/>
                </a:solidFill>
                <a:latin typeface="Segoe UI"/>
              </a:rPr>
              <a:t>Exactitud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10284" y="4815840"/>
            <a:ext cx="8858451" cy="472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0">
                <a:solidFill>
                  <a:srgbClr val="14161A"/>
                </a:solidFill>
                <a:latin typeface="Segoe UI"/>
              </a:rPr>
              <a:t>Barrido de 0,05 a 1,0 mm/px con piezas de 80 a 800 px: peor error de ida y vuelta 0,145 %, la mayoría entre 0,00 y 0,05 %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822960" y="5379720"/>
            <a:ext cx="10545775" cy="0"/>
          </a:xfrm>
          <a:prstGeom prst="line">
            <a:avLst/>
          </a:prstGeom>
          <a:ln w="9525">
            <a:solidFill>
              <a:srgbClr val="EBEC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822960" y="5471160"/>
            <a:ext cx="1522732" cy="472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0">
                <a:solidFill>
                  <a:srgbClr val="4A4F57"/>
                </a:solidFill>
                <a:latin typeface="Segoe UI"/>
              </a:rPr>
              <a:t>Límite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10284" y="5471160"/>
            <a:ext cx="8858451" cy="472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0">
                <a:solidFill>
                  <a:srgbClr val="14161A"/>
                </a:solidFill>
                <a:latin typeface="Segoe UI"/>
              </a:rPr>
              <a:t>Una sola cámara 2D no recupera profundidad. La escala vale en el plano de trabajo; medir a distinta altura exige estéreo o cámara de profundidad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822960" y="6035040"/>
            <a:ext cx="10545775" cy="0"/>
          </a:xfrm>
          <a:prstGeom prst="line">
            <a:avLst/>
          </a:prstGeom>
          <a:ln w="9525">
            <a:solidFill>
              <a:srgbClr val="EBEC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822960" y="6400800"/>
            <a:ext cx="6400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8A8F98"/>
                </a:solidFill>
                <a:latin typeface="Segoe UI"/>
              </a:rPr>
              <a:t>PC Inspector · inspección visual industrial 2D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88575" y="6400800"/>
            <a:ext cx="12801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8A8F98"/>
                </a:solidFill>
                <a:latin typeface="Segoe U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48640"/>
            <a:ext cx="1054577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 i="0">
                <a:solidFill>
                  <a:srgbClr val="256ABF"/>
                </a:solidFill>
                <a:latin typeface="Segoe UI"/>
              </a:rPr>
              <a:t>OPERACIÓN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41248"/>
            <a:ext cx="1054577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0" i="0">
                <a:solidFill>
                  <a:srgbClr val="14161A"/>
                </a:solidFill>
                <a:latin typeface="Segoe UI Semilight"/>
              </a:rPr>
              <a:t>Puesta a punto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22960" y="1481328"/>
            <a:ext cx="10545775" cy="0"/>
          </a:xfrm>
          <a:prstGeom prst="line">
            <a:avLst/>
          </a:prstGeom>
          <a:ln w="12700">
            <a:solidFill>
              <a:srgbClr val="DE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822960" y="1755648"/>
            <a:ext cx="5760720" cy="877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50" b="0" i="0">
                <a:solidFill>
                  <a:srgbClr val="4A4F57"/>
                </a:solidFill>
                <a:latin typeface="Segoe UI"/>
              </a:rPr>
              <a:t>Todos los ajustes están en un único diálogo, repartidos en siete pestañas. No bloquea la ventana: se mueve un control y el efecto se ve en el vídeo al momento.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742627"/>
            <a:ext cx="1600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14161A"/>
                </a:solidFill>
                <a:latin typeface="Segoe UI"/>
              </a:rPr>
              <a:t>Cámara e imagen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14600" y="2742627"/>
            <a:ext cx="4069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0" i="0">
                <a:solidFill>
                  <a:srgbClr val="4A4F57"/>
                </a:solidFill>
                <a:latin typeface="Segoe UI"/>
              </a:rPr>
              <a:t>Brillo, contraste, ganancia, exposición, enfoque y resolución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126675"/>
            <a:ext cx="1600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14161A"/>
                </a:solidFill>
                <a:latin typeface="Segoe UI"/>
              </a:rPr>
              <a:t>Detección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14600" y="3126675"/>
            <a:ext cx="4069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0" i="0">
                <a:solidFill>
                  <a:srgbClr val="4A4F57"/>
                </a:solidFill>
                <a:latin typeface="Segoe UI"/>
              </a:rPr>
              <a:t>Umbral, polaridad, suavizado, área mínima y máxima; perfiles con nombre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510723"/>
            <a:ext cx="1600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14161A"/>
                </a:solidFill>
                <a:latin typeface="Segoe UI"/>
              </a:rPr>
              <a:t>Piezas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14600" y="3510723"/>
            <a:ext cx="4069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0" i="0">
                <a:solidFill>
                  <a:srgbClr val="4A4F57"/>
                </a:solidFill>
                <a:latin typeface="Segoe UI"/>
              </a:rPr>
              <a:t>Cuántas piezas se esperan en la imagen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894771"/>
            <a:ext cx="1600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14161A"/>
                </a:solidFill>
                <a:latin typeface="Segoe UI"/>
              </a:rPr>
              <a:t>Rendimiento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14600" y="3894771"/>
            <a:ext cx="4069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0" i="0">
                <a:solidFill>
                  <a:srgbClr val="4A4F57"/>
                </a:solidFill>
                <a:latin typeface="Segoe UI"/>
              </a:rPr>
              <a:t>Reparto de tiempo por etapas y zona de trabajo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278819"/>
            <a:ext cx="1600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14161A"/>
                </a:solidFill>
                <a:latin typeface="Segoe UI"/>
              </a:rPr>
              <a:t>Escala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14600" y="4278819"/>
            <a:ext cx="4069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0" i="0">
                <a:solidFill>
                  <a:srgbClr val="4A4F57"/>
                </a:solidFill>
                <a:latin typeface="Segoe UI"/>
              </a:rPr>
              <a:t>Asistente de calibración px→mm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4662867"/>
            <a:ext cx="1600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14161A"/>
                </a:solidFill>
                <a:latin typeface="Segoe UI"/>
              </a:rPr>
              <a:t>Preferencias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14600" y="4662867"/>
            <a:ext cx="4069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0" i="0">
                <a:solidFill>
                  <a:srgbClr val="4A4F57"/>
                </a:solidFill>
                <a:latin typeface="Segoe UI"/>
              </a:rPr>
              <a:t>Intervalo de auto-inspección y valor de 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5046915"/>
            <a:ext cx="1600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14161A"/>
                </a:solidFill>
                <a:latin typeface="Segoe UI"/>
              </a:rPr>
              <a:t>Atajos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14600" y="5046915"/>
            <a:ext cx="4069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0" i="0">
                <a:solidFill>
                  <a:srgbClr val="4A4F57"/>
                </a:solidFill>
                <a:latin typeface="Segoe UI"/>
              </a:rPr>
              <a:t>Tabla de atajos de teclado, editable</a:t>
            </a:r>
          </a:p>
        </p:txBody>
      </p:sp>
      <p:pic>
        <p:nvPicPr>
          <p:cNvPr id="20" name="Picture 19" descr="05_con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1700784"/>
            <a:ext cx="3246120" cy="3881482"/>
          </a:xfrm>
          <a:prstGeom prst="rect">
            <a:avLst/>
          </a:prstGeom>
          <a:ln w="9525">
            <a:solidFill>
              <a:srgbClr val="DEE0E4"/>
            </a:solidFill>
          </a:ln>
        </p:spPr>
      </p:pic>
      <p:sp>
        <p:nvSpPr>
          <p:cNvPr id="21" name="TextBox 20"/>
          <p:cNvSpPr txBox="1"/>
          <p:nvPr/>
        </p:nvSpPr>
        <p:spPr>
          <a:xfrm>
            <a:off x="7772400" y="5691994"/>
            <a:ext cx="3246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50" b="0" i="0">
                <a:solidFill>
                  <a:srgbClr val="8A8F98"/>
                </a:solidFill>
                <a:latin typeface="Segoe UI"/>
              </a:rPr>
              <a:t>La página de detección explica qué hacer cuando las luces o las sombras arruinan el contorno automático.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6400800"/>
            <a:ext cx="6400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8A8F98"/>
                </a:solidFill>
                <a:latin typeface="Segoe UI"/>
              </a:rPr>
              <a:t>PC Inspector · inspección visual industrial 2D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88575" y="6400800"/>
            <a:ext cx="12801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8A8F98"/>
                </a:solidFill>
                <a:latin typeface="Segoe U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48640"/>
            <a:ext cx="1054577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 i="0">
                <a:solidFill>
                  <a:srgbClr val="256ABF"/>
                </a:solidFill>
                <a:latin typeface="Segoe UI"/>
              </a:rPr>
              <a:t>DATOS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41248"/>
            <a:ext cx="1054577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0" i="0">
                <a:solidFill>
                  <a:srgbClr val="14161A"/>
                </a:solidFill>
                <a:latin typeface="Segoe UI Semilight"/>
              </a:rPr>
              <a:t>Rendimiento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22960" y="1481328"/>
            <a:ext cx="10545775" cy="0"/>
          </a:xfrm>
          <a:prstGeom prst="line">
            <a:avLst/>
          </a:prstGeom>
          <a:ln w="12700">
            <a:solidFill>
              <a:srgbClr val="DE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822960" y="1645920"/>
            <a:ext cx="1018001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4A4F57"/>
                </a:solidFill>
                <a:latin typeface="Segoe UI"/>
              </a:rPr>
              <a:t>Medido dentro de la aplicación con el cronómetro por etapas, que va apagado por defecto.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568696" y="2615184"/>
            <a:ext cx="0" cy="2596896"/>
          </a:xfrm>
          <a:prstGeom prst="line">
            <a:avLst/>
          </a:prstGeom>
          <a:ln w="15875">
            <a:solidFill>
              <a:srgbClr val="D03B3B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3374136" y="2377440"/>
            <a:ext cx="21214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1" i="0">
                <a:solidFill>
                  <a:srgbClr val="D03B3B"/>
                </a:solidFill>
                <a:latin typeface="Segoe UI"/>
              </a:rPr>
              <a:t>33,3 ms = un frame a 30 fps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204972"/>
            <a:ext cx="158191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50" b="0" i="0">
                <a:solidFill>
                  <a:srgbClr val="14161A"/>
                </a:solidFill>
                <a:latin typeface="Segoe UI"/>
              </a:rPr>
              <a:t>20 herramientas</a:t>
            </a:r>
          </a:p>
        </p:txBody>
      </p:sp>
      <p:sp>
        <p:nvSpPr>
          <p:cNvPr id="9" name="Rectangle 8"/>
          <p:cNvSpPr/>
          <p:nvPr/>
        </p:nvSpPr>
        <p:spPr>
          <a:xfrm>
            <a:off x="2606040" y="3067812"/>
            <a:ext cx="3007140" cy="210312"/>
          </a:xfrm>
          <a:prstGeom prst="rect">
            <a:avLst/>
          </a:prstGeom>
          <a:solidFill>
            <a:srgbClr val="86B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5732052" y="3058668"/>
            <a:ext cx="813816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4A4F57"/>
                </a:solidFill>
                <a:latin typeface="Segoe UI"/>
              </a:rPr>
              <a:t>33,8 ms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606040" y="3351276"/>
            <a:ext cx="809614" cy="210312"/>
          </a:xfrm>
          <a:prstGeom prst="rect">
            <a:avLst/>
          </a:prstGeom>
          <a:solidFill>
            <a:srgbClr val="256A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3534526" y="3342132"/>
            <a:ext cx="813816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14161A"/>
                </a:solidFill>
                <a:latin typeface="Segoe UI"/>
              </a:rPr>
              <a:t>9,1 ms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3195828"/>
            <a:ext cx="731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006300"/>
                </a:solidFill>
                <a:latin typeface="Segoe UI"/>
              </a:rPr>
              <a:t>3,72×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3982212"/>
            <a:ext cx="158191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50" b="0" i="0">
                <a:solidFill>
                  <a:srgbClr val="14161A"/>
                </a:solidFill>
                <a:latin typeface="Segoe UI"/>
              </a:rPr>
              <a:t>10 herramientas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606040" y="3845052"/>
            <a:ext cx="1281148" cy="210312"/>
          </a:xfrm>
          <a:prstGeom prst="rect">
            <a:avLst/>
          </a:prstGeom>
          <a:solidFill>
            <a:srgbClr val="86B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4006060" y="3835908"/>
            <a:ext cx="813816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4A4F57"/>
                </a:solidFill>
                <a:latin typeface="Segoe UI"/>
              </a:rPr>
              <a:t>14,4 ms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606040" y="4128516"/>
            <a:ext cx="444843" cy="210312"/>
          </a:xfrm>
          <a:prstGeom prst="rect">
            <a:avLst/>
          </a:prstGeom>
          <a:solidFill>
            <a:srgbClr val="256A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3169755" y="4119372"/>
            <a:ext cx="813816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14161A"/>
                </a:solidFill>
                <a:latin typeface="Segoe UI"/>
              </a:rPr>
              <a:t>5,0 ms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0" y="3973068"/>
            <a:ext cx="731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006300"/>
                </a:solidFill>
                <a:latin typeface="Segoe UI"/>
              </a:rPr>
              <a:t>2,87×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4759452"/>
            <a:ext cx="158191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50" b="0" i="0">
                <a:solidFill>
                  <a:srgbClr val="14161A"/>
                </a:solidFill>
                <a:latin typeface="Segoe UI"/>
              </a:rPr>
              <a:t>5 herramientas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606040" y="4622292"/>
            <a:ext cx="613883" cy="210312"/>
          </a:xfrm>
          <a:prstGeom prst="rect">
            <a:avLst/>
          </a:prstGeom>
          <a:solidFill>
            <a:srgbClr val="86B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3338795" y="4613148"/>
            <a:ext cx="813816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4A4F57"/>
                </a:solidFill>
                <a:latin typeface="Segoe UI"/>
              </a:rPr>
              <a:t>6,9 ms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606040" y="4905756"/>
            <a:ext cx="409255" cy="210312"/>
          </a:xfrm>
          <a:prstGeom prst="rect">
            <a:avLst/>
          </a:prstGeom>
          <a:solidFill>
            <a:srgbClr val="256A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3134167" y="4896612"/>
            <a:ext cx="813816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14161A"/>
                </a:solidFill>
                <a:latin typeface="Segoe UI"/>
              </a:rPr>
              <a:t>4,6 ms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0" y="4750308"/>
            <a:ext cx="731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006300"/>
                </a:solidFill>
                <a:latin typeface="Segoe UI"/>
              </a:rPr>
              <a:t>1,49×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606040" y="5394960"/>
            <a:ext cx="256032" cy="109728"/>
          </a:xfrm>
          <a:prstGeom prst="rect">
            <a:avLst/>
          </a:prstGeom>
          <a:solidFill>
            <a:srgbClr val="86B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2953512" y="5349240"/>
            <a:ext cx="12801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 i="0">
                <a:solidFill>
                  <a:srgbClr val="4A4F57"/>
                </a:solidFill>
                <a:latin typeface="Segoe UI"/>
              </a:rPr>
              <a:t>En serie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977640" y="5394960"/>
            <a:ext cx="256032" cy="109728"/>
          </a:xfrm>
          <a:prstGeom prst="rect">
            <a:avLst/>
          </a:prstGeom>
          <a:solidFill>
            <a:srgbClr val="256A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4325112" y="5349240"/>
            <a:ext cx="23774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 i="0">
                <a:solidFill>
                  <a:srgbClr val="4A4F57"/>
                </a:solidFill>
                <a:latin typeface="Segoe UI"/>
              </a:rPr>
              <a:t>Repartidas entre núcleos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" y="566013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8A8F98"/>
                </a:solidFill>
                <a:latin typeface="Segoe UI"/>
              </a:rPr>
              <a:t>Coste de ejecutar las herramientas sobre un frame de 900×600, con herramientas de tamaño real.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83880" y="2560320"/>
            <a:ext cx="1300441" cy="456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50" b="0" i="0">
                <a:solidFill>
                  <a:srgbClr val="4A4F57"/>
                </a:solidFill>
                <a:latin typeface="Segoe UI"/>
              </a:rPr>
              <a:t>Análisis de un frame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48913" y="2560320"/>
            <a:ext cx="1719822" cy="456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50" b="0" i="0">
                <a:solidFill>
                  <a:srgbClr val="14161A"/>
                </a:solidFill>
                <a:latin typeface="Segoe UI"/>
              </a:rPr>
              <a:t>35,4 → 23,1 ms tras optimizar (2560×1440)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8183880" y="3163188"/>
            <a:ext cx="3184855" cy="0"/>
          </a:xfrm>
          <a:prstGeom prst="line">
            <a:avLst/>
          </a:prstGeom>
          <a:ln w="9525">
            <a:solidFill>
              <a:srgbClr val="EBEC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8183880" y="3254628"/>
            <a:ext cx="1300441" cy="456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50" b="0" i="0">
                <a:solidFill>
                  <a:srgbClr val="4A4F57"/>
                </a:solidFill>
                <a:latin typeface="Segoe UI"/>
              </a:rPr>
              <a:t>Zona de trabajo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48913" y="3254628"/>
            <a:ext cx="1719822" cy="456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50" b="0" i="0">
                <a:solidFill>
                  <a:srgbClr val="14161A"/>
                </a:solidFill>
                <a:latin typeface="Segoe UI"/>
              </a:rPr>
              <a:t>~13 → ~2 ms si la pieza ocupa una esquina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8183880" y="3857496"/>
            <a:ext cx="3184855" cy="0"/>
          </a:xfrm>
          <a:prstGeom prst="line">
            <a:avLst/>
          </a:prstGeom>
          <a:ln w="9525">
            <a:solidFill>
              <a:srgbClr val="EBEC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8183880" y="3948936"/>
            <a:ext cx="1300441" cy="456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50" b="0" i="0">
                <a:solidFill>
                  <a:srgbClr val="4A4F57"/>
                </a:solidFill>
                <a:latin typeface="Segoe UI"/>
              </a:rPr>
              <a:t>Contar 6 piezas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48913" y="3948936"/>
            <a:ext cx="1719822" cy="456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50" b="0" i="0">
                <a:solidFill>
                  <a:srgbClr val="14161A"/>
                </a:solidFill>
                <a:latin typeface="Segoe UI"/>
              </a:rPr>
              <a:t>11,2 ms frente a 7,5 ms quedándose con una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8183880" y="4551804"/>
            <a:ext cx="3184855" cy="0"/>
          </a:xfrm>
          <a:prstGeom prst="line">
            <a:avLst/>
          </a:prstGeom>
          <a:ln w="9525">
            <a:solidFill>
              <a:srgbClr val="EBEC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8183880" y="4643244"/>
            <a:ext cx="1300441" cy="456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50" b="0" i="0">
                <a:solidFill>
                  <a:srgbClr val="4A4F57"/>
                </a:solidFill>
                <a:latin typeface="Segoe UI"/>
              </a:rPr>
              <a:t>Extracción del descriptor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648913" y="4643244"/>
            <a:ext cx="1719822" cy="456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50" b="0" i="0">
                <a:solidFill>
                  <a:srgbClr val="14161A"/>
                </a:solidFill>
                <a:latin typeface="Segoe UI"/>
              </a:rPr>
              <a:t>menos de 220 ms, incluida la carga de sesión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8183880" y="5246112"/>
            <a:ext cx="3184855" cy="0"/>
          </a:xfrm>
          <a:prstGeom prst="line">
            <a:avLst/>
          </a:prstGeom>
          <a:ln w="9525">
            <a:solidFill>
              <a:srgbClr val="EBEC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8183880" y="5337552"/>
            <a:ext cx="1300441" cy="456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50" b="0" i="0">
                <a:solidFill>
                  <a:srgbClr val="4A4F57"/>
                </a:solidFill>
                <a:latin typeface="Segoe UI"/>
              </a:rPr>
              <a:t>Sin tarjeta gráfica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648913" y="5337552"/>
            <a:ext cx="1719822" cy="456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50" b="0" i="0">
                <a:solidFill>
                  <a:srgbClr val="14161A"/>
                </a:solidFill>
                <a:latin typeface="Segoe UI"/>
              </a:rPr>
              <a:t>todo el proceso corre en CPU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8183880" y="5940420"/>
            <a:ext cx="3184855" cy="0"/>
          </a:xfrm>
          <a:prstGeom prst="line">
            <a:avLst/>
          </a:prstGeom>
          <a:ln w="9525">
            <a:solidFill>
              <a:srgbClr val="EBEC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822960" y="6400800"/>
            <a:ext cx="6400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8A8F98"/>
                </a:solidFill>
                <a:latin typeface="Segoe UI"/>
              </a:rPr>
              <a:t>PC Inspector · inspección visual industrial 2D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088575" y="6400800"/>
            <a:ext cx="12801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8A8F98"/>
                </a:solidFill>
                <a:latin typeface="Segoe U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48640"/>
            <a:ext cx="1054577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 i="0">
                <a:solidFill>
                  <a:srgbClr val="256ABF"/>
                </a:solidFill>
                <a:latin typeface="Segoe UI"/>
              </a:rPr>
              <a:t>DATOS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41248"/>
            <a:ext cx="1054577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0" i="0">
                <a:solidFill>
                  <a:srgbClr val="14161A"/>
                </a:solidFill>
                <a:latin typeface="Segoe UI Semilight"/>
              </a:rPr>
              <a:t>Datos y trazabilidad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22960" y="1481328"/>
            <a:ext cx="10545775" cy="0"/>
          </a:xfrm>
          <a:prstGeom prst="line">
            <a:avLst/>
          </a:prstGeom>
          <a:ln w="12700">
            <a:solidFill>
              <a:srgbClr val="DE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822960" y="1645920"/>
            <a:ext cx="1018001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4A4F57"/>
                </a:solidFill>
                <a:latin typeface="Segoe UI"/>
              </a:rPr>
              <a:t>Todo queda en un fichero SQLite junto al ejecutable. No hay servidor que instalar ni servicio que mantener.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286000"/>
            <a:ext cx="1825142" cy="472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0">
                <a:solidFill>
                  <a:srgbClr val="4A4F57"/>
                </a:solidFill>
                <a:latin typeface="Segoe UI"/>
              </a:rPr>
              <a:t>Esquema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12694" y="2286000"/>
            <a:ext cx="3862426" cy="472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0">
                <a:solidFill>
                  <a:srgbClr val="14161A"/>
                </a:solidFill>
                <a:latin typeface="Segoe UI"/>
              </a:rPr>
              <a:t>Diez tablas, versión 10, con migración automática al abrir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22960" y="2795016"/>
            <a:ext cx="5852160" cy="0"/>
          </a:xfrm>
          <a:prstGeom prst="line">
            <a:avLst/>
          </a:prstGeom>
          <a:ln w="9525">
            <a:solidFill>
              <a:srgbClr val="EBEC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22960" y="2886456"/>
            <a:ext cx="1825142" cy="472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0">
                <a:solidFill>
                  <a:srgbClr val="4A4F57"/>
                </a:solidFill>
                <a:latin typeface="Segoe UI"/>
              </a:rPr>
              <a:t>Por pieza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12694" y="2886456"/>
            <a:ext cx="3862426" cy="472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0">
                <a:solidFill>
                  <a:srgbClr val="14161A"/>
                </a:solidFill>
                <a:latin typeface="Segoe UI"/>
              </a:rPr>
              <a:t>Referencias versionadas, miniatura, orientación, tolerancias y plantillas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2960" y="3395472"/>
            <a:ext cx="5852160" cy="0"/>
          </a:xfrm>
          <a:prstGeom prst="line">
            <a:avLst/>
          </a:prstGeom>
          <a:ln w="9525">
            <a:solidFill>
              <a:srgbClr val="EBEC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486912"/>
            <a:ext cx="1825142" cy="472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0">
                <a:solidFill>
                  <a:srgbClr val="4A4F57"/>
                </a:solidFill>
                <a:latin typeface="Segoe UI"/>
              </a:rPr>
              <a:t>Por inspección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12694" y="3486912"/>
            <a:ext cx="3862426" cy="472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0">
                <a:solidFill>
                  <a:srgbClr val="14161A"/>
                </a:solidFill>
                <a:latin typeface="Segoe UI"/>
              </a:rPr>
              <a:t>Veredicto, motivo, valor de cada cota, miniatura y fecha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22960" y="3995928"/>
            <a:ext cx="5852160" cy="0"/>
          </a:xfrm>
          <a:prstGeom prst="line">
            <a:avLst/>
          </a:prstGeom>
          <a:ln w="9525">
            <a:solidFill>
              <a:srgbClr val="EBEC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22960" y="4087368"/>
            <a:ext cx="1825142" cy="472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0">
                <a:solidFill>
                  <a:srgbClr val="4A4F57"/>
                </a:solidFill>
                <a:latin typeface="Segoe UI"/>
              </a:rPr>
              <a:t>Estadísticas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12694" y="4087368"/>
            <a:ext cx="3862426" cy="472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0">
                <a:solidFill>
                  <a:srgbClr val="14161A"/>
                </a:solidFill>
                <a:latin typeface="Segoe UI"/>
              </a:rPr>
              <a:t>Recuento OK/NG por día, consultable desde el historial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22960" y="4596384"/>
            <a:ext cx="5852160" cy="0"/>
          </a:xfrm>
          <a:prstGeom prst="line">
            <a:avLst/>
          </a:prstGeom>
          <a:ln w="9525">
            <a:solidFill>
              <a:srgbClr val="EBEC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822960" y="4687824"/>
            <a:ext cx="1825142" cy="472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0">
                <a:solidFill>
                  <a:srgbClr val="4A4F57"/>
                </a:solidFill>
                <a:latin typeface="Segoe UI"/>
              </a:rPr>
              <a:t>Integridad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12694" y="4687824"/>
            <a:ext cx="3862426" cy="472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0">
                <a:solidFill>
                  <a:srgbClr val="14161A"/>
                </a:solidFill>
                <a:latin typeface="Segoe UI"/>
              </a:rPr>
              <a:t>Claves foráneas activas, modo WAL y espera ante bloqueo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822960" y="5196840"/>
            <a:ext cx="5852160" cy="0"/>
          </a:xfrm>
          <a:prstGeom prst="line">
            <a:avLst/>
          </a:prstGeom>
          <a:ln w="9525">
            <a:solidFill>
              <a:srgbClr val="EBEC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7178040" y="2286000"/>
            <a:ext cx="41906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 i="0">
                <a:solidFill>
                  <a:srgbClr val="8A8F98"/>
                </a:solidFill>
                <a:latin typeface="Segoe UI"/>
              </a:rPr>
              <a:t>SALIDA DE DATOS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78040" y="2670048"/>
            <a:ext cx="41906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14161A"/>
                </a:solidFill>
                <a:latin typeface="Segoe UI"/>
              </a:rPr>
              <a:t>Historial y medidas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78040" y="2907792"/>
            <a:ext cx="41906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4A4F57"/>
                </a:solidFill>
                <a:latin typeface="Segoe UI"/>
              </a:rPr>
              <a:t>CSV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78040" y="3310128"/>
            <a:ext cx="41906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14161A"/>
                </a:solidFill>
                <a:latin typeface="Segoe UI"/>
              </a:rPr>
              <a:t>Plantillas de herramientas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78040" y="3547872"/>
            <a:ext cx="41906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4A4F57"/>
                </a:solidFill>
                <a:latin typeface="Segoe UI"/>
              </a:rPr>
              <a:t>.json, entre piezas o máquinas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78040" y="3950208"/>
            <a:ext cx="41906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14161A"/>
                </a:solidFill>
                <a:latin typeface="Segoe UI"/>
              </a:rPr>
              <a:t>Configuración de la máquina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78040" y="4187952"/>
            <a:ext cx="41906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4A4F57"/>
                </a:solidFill>
                <a:latin typeface="Segoe UI"/>
              </a:rPr>
              <a:t>.json, para clonar la puesta a punto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78040" y="4590288"/>
            <a:ext cx="41906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14161A"/>
                </a:solidFill>
                <a:latin typeface="Segoe UI"/>
              </a:rPr>
              <a:t>Aplicación completa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78040" y="4828032"/>
            <a:ext cx="41906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4A4F57"/>
                </a:solidFill>
                <a:latin typeface="Segoe UI"/>
              </a:rPr>
              <a:t>.zip portable de ~178 MB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" y="5532120"/>
            <a:ext cx="1054577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0" i="0">
                <a:solidFill>
                  <a:srgbClr val="8A8F98"/>
                </a:solidFill>
                <a:latin typeface="Segoe UI"/>
              </a:rPr>
              <a:t>Las versiones anteriores de una referencia nunca se borran: se puede reconstruir con qué patrón se aceptó cada pieza y en qué fecha.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" y="6400800"/>
            <a:ext cx="6400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8A8F98"/>
                </a:solidFill>
                <a:latin typeface="Segoe UI"/>
              </a:rPr>
              <a:t>PC Inspector · inspección visual industrial 2D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88575" y="6400800"/>
            <a:ext cx="12801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8A8F98"/>
                </a:solidFill>
                <a:latin typeface="Segoe U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48640"/>
            <a:ext cx="1054577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 i="0">
                <a:solidFill>
                  <a:srgbClr val="256ABF"/>
                </a:solidFill>
                <a:latin typeface="Segoe UI"/>
              </a:rPr>
              <a:t>FICHA TÉCNICA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41248"/>
            <a:ext cx="1054577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0" i="0">
                <a:solidFill>
                  <a:srgbClr val="14161A"/>
                </a:solidFill>
                <a:latin typeface="Segoe UI Semilight"/>
              </a:rPr>
              <a:t>Requisitos e instalación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22960" y="1481328"/>
            <a:ext cx="10545775" cy="0"/>
          </a:xfrm>
          <a:prstGeom prst="line">
            <a:avLst/>
          </a:prstGeom>
          <a:ln w="12700">
            <a:solidFill>
              <a:srgbClr val="DE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822960" y="2011680"/>
            <a:ext cx="1618433" cy="2819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0">
                <a:solidFill>
                  <a:srgbClr val="4A4F57"/>
                </a:solidFill>
                <a:latin typeface="Segoe UI"/>
              </a:rPr>
              <a:t>Sistema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05985" y="2011680"/>
            <a:ext cx="3169822" cy="2819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0">
                <a:solidFill>
                  <a:srgbClr val="14161A"/>
                </a:solidFill>
                <a:latin typeface="Segoe UI"/>
              </a:rPr>
              <a:t>Windows 10 o superior, y Linux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822960" y="2359152"/>
            <a:ext cx="4952847" cy="0"/>
          </a:xfrm>
          <a:prstGeom prst="line">
            <a:avLst/>
          </a:prstGeom>
          <a:ln w="9525">
            <a:solidFill>
              <a:srgbClr val="EBEC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822960" y="2450592"/>
            <a:ext cx="1618433" cy="472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0">
                <a:solidFill>
                  <a:srgbClr val="4A4F57"/>
                </a:solidFill>
                <a:latin typeface="Segoe UI"/>
              </a:rPr>
              <a:t>Procesador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05985" y="2450592"/>
            <a:ext cx="3169822" cy="472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0">
                <a:solidFill>
                  <a:srgbClr val="14161A"/>
                </a:solidFill>
                <a:latin typeface="Segoe UI"/>
              </a:rPr>
              <a:t>Cualquier CPU x86-64 reciente; usa todos los núcleos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822960" y="2959608"/>
            <a:ext cx="4952847" cy="0"/>
          </a:xfrm>
          <a:prstGeom prst="line">
            <a:avLst/>
          </a:prstGeom>
          <a:ln w="9525">
            <a:solidFill>
              <a:srgbClr val="EBEC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822960" y="3051048"/>
            <a:ext cx="1618433" cy="2819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0">
                <a:solidFill>
                  <a:srgbClr val="4A4F57"/>
                </a:solidFill>
                <a:latin typeface="Segoe UI"/>
              </a:rPr>
              <a:t>Tarjeta gráfica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05985" y="3051048"/>
            <a:ext cx="3169822" cy="2819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0">
                <a:solidFill>
                  <a:srgbClr val="14161A"/>
                </a:solidFill>
                <a:latin typeface="Segoe UI"/>
              </a:rPr>
              <a:t>No necesaria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822960" y="3398520"/>
            <a:ext cx="4952847" cy="0"/>
          </a:xfrm>
          <a:prstGeom prst="line">
            <a:avLst/>
          </a:prstGeom>
          <a:ln w="9525">
            <a:solidFill>
              <a:srgbClr val="EBEC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822960" y="3489960"/>
            <a:ext cx="1618433" cy="472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0">
                <a:solidFill>
                  <a:srgbClr val="4A4F57"/>
                </a:solidFill>
                <a:latin typeface="Segoe UI"/>
              </a:rPr>
              <a:t>Cámara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05985" y="3489960"/>
            <a:ext cx="3169822" cy="472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0">
                <a:solidFill>
                  <a:srgbClr val="14161A"/>
                </a:solidFill>
                <a:latin typeface="Segoe UI"/>
              </a:rPr>
              <a:t>USB o integrada; también sirve una imagen o un vídeo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822960" y="3998976"/>
            <a:ext cx="4952847" cy="0"/>
          </a:xfrm>
          <a:prstGeom prst="line">
            <a:avLst/>
          </a:prstGeom>
          <a:ln w="9525">
            <a:solidFill>
              <a:srgbClr val="EBEC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822960" y="4090416"/>
            <a:ext cx="1618433" cy="2819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0">
                <a:solidFill>
                  <a:srgbClr val="4A4F57"/>
                </a:solidFill>
                <a:latin typeface="Segoe UI"/>
              </a:rPr>
              <a:t>Conexión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05985" y="4090416"/>
            <a:ext cx="3169822" cy="2819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0">
                <a:solidFill>
                  <a:srgbClr val="14161A"/>
                </a:solidFill>
                <a:latin typeface="Segoe UI"/>
              </a:rPr>
              <a:t>No necesaria en ningún momento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822960" y="4437888"/>
            <a:ext cx="4952847" cy="0"/>
          </a:xfrm>
          <a:prstGeom prst="line">
            <a:avLst/>
          </a:prstGeom>
          <a:ln w="9525">
            <a:solidFill>
              <a:srgbClr val="EBEC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415887" y="2011680"/>
            <a:ext cx="1618433" cy="472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0">
                <a:solidFill>
                  <a:srgbClr val="4A4F57"/>
                </a:solidFill>
                <a:latin typeface="Segoe UI"/>
              </a:rPr>
              <a:t>Instalación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98912" y="2011680"/>
            <a:ext cx="3169822" cy="472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0">
                <a:solidFill>
                  <a:srgbClr val="14161A"/>
                </a:solidFill>
                <a:latin typeface="Segoe UI"/>
              </a:rPr>
              <a:t>Descomprimir y ejecutar. No modifica el registro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415887" y="2520696"/>
            <a:ext cx="4952848" cy="0"/>
          </a:xfrm>
          <a:prstGeom prst="line">
            <a:avLst/>
          </a:prstGeom>
          <a:ln w="9525">
            <a:solidFill>
              <a:srgbClr val="EBEC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415887" y="2612136"/>
            <a:ext cx="1618433" cy="472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0">
                <a:solidFill>
                  <a:srgbClr val="4A4F57"/>
                </a:solidFill>
                <a:latin typeface="Segoe UI"/>
              </a:rPr>
              <a:t>Tamaño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98912" y="2612136"/>
            <a:ext cx="3169822" cy="472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0">
                <a:solidFill>
                  <a:srgbClr val="14161A"/>
                </a:solidFill>
                <a:latin typeface="Segoe UI"/>
              </a:rPr>
              <a:t>~178 MB, de los cuales 49 MB son el modelo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415887" y="3121152"/>
            <a:ext cx="4952848" cy="0"/>
          </a:xfrm>
          <a:prstGeom prst="line">
            <a:avLst/>
          </a:prstGeom>
          <a:ln w="9525">
            <a:solidFill>
              <a:srgbClr val="EBEC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6415887" y="3212592"/>
            <a:ext cx="1618433" cy="2819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0">
                <a:solidFill>
                  <a:srgbClr val="4A4F57"/>
                </a:solidFill>
                <a:latin typeface="Segoe UI"/>
              </a:rPr>
              <a:t>Dependencias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98912" y="3212592"/>
            <a:ext cx="3169822" cy="2819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0">
                <a:solidFill>
                  <a:srgbClr val="14161A"/>
                </a:solidFill>
                <a:latin typeface="Segoe UI"/>
              </a:rPr>
              <a:t>Ninguna externa: van dentro del paquete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6415887" y="3560064"/>
            <a:ext cx="4952848" cy="0"/>
          </a:xfrm>
          <a:prstGeom prst="line">
            <a:avLst/>
          </a:prstGeom>
          <a:ln w="9525">
            <a:solidFill>
              <a:srgbClr val="EBEC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6415887" y="3651504"/>
            <a:ext cx="1618433" cy="472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0">
                <a:solidFill>
                  <a:srgbClr val="4A4F57"/>
                </a:solidFill>
                <a:latin typeface="Segoe UI"/>
              </a:rPr>
              <a:t>Idioma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98912" y="3651504"/>
            <a:ext cx="3169822" cy="472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0">
                <a:solidFill>
                  <a:srgbClr val="14161A"/>
                </a:solidFill>
                <a:latin typeface="Segoe UI"/>
              </a:rPr>
              <a:t>Español; los textos están preparados para traducirse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6415887" y="4160520"/>
            <a:ext cx="4952848" cy="0"/>
          </a:xfrm>
          <a:prstGeom prst="line">
            <a:avLst/>
          </a:prstGeom>
          <a:ln w="9525">
            <a:solidFill>
              <a:srgbClr val="EBEC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6415887" y="4251960"/>
            <a:ext cx="1618433" cy="2819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0">
                <a:solidFill>
                  <a:srgbClr val="4A4F57"/>
                </a:solidFill>
                <a:latin typeface="Segoe UI"/>
              </a:rPr>
              <a:t>Licencia del software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98912" y="4251960"/>
            <a:ext cx="3169822" cy="2819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0">
                <a:solidFill>
                  <a:srgbClr val="14161A"/>
                </a:solidFill>
                <a:latin typeface="Segoe UI"/>
              </a:rPr>
              <a:t>Sin coste ni cuota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6415887" y="4599432"/>
            <a:ext cx="4952848" cy="0"/>
          </a:xfrm>
          <a:prstGeom prst="line">
            <a:avLst/>
          </a:prstGeom>
          <a:ln w="9525">
            <a:solidFill>
              <a:srgbClr val="EBEC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ectangle 34"/>
          <p:cNvSpPr/>
          <p:nvPr/>
        </p:nvSpPr>
        <p:spPr>
          <a:xfrm>
            <a:off x="822960" y="4846320"/>
            <a:ext cx="10545775" cy="100584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1133856" y="5047488"/>
            <a:ext cx="9923983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00" b="0" i="0">
                <a:solidFill>
                  <a:srgbClr val="4A4F57"/>
                </a:solidFill>
                <a:latin typeface="Segoe UI"/>
              </a:rPr>
              <a:t>El paquete portable se verificó arrancando en un equipo sin el entorno de compilación instalado. El programa también funciona sin el modelo de apariencia: en ese caso inspecciona solo con las herramientas geométricas y lo indica en la barra de estado.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2960" y="6400800"/>
            <a:ext cx="6400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8A8F98"/>
                </a:solidFill>
                <a:latin typeface="Segoe UI"/>
              </a:rPr>
              <a:t>PC Inspector · inspección visual industrial 2D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088575" y="6400800"/>
            <a:ext cx="12801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8A8F98"/>
                </a:solidFill>
                <a:latin typeface="Segoe U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48640"/>
            <a:ext cx="1054577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 i="0">
                <a:solidFill>
                  <a:srgbClr val="256ABF"/>
                </a:solidFill>
                <a:latin typeface="Segoe UI"/>
              </a:rPr>
              <a:t>POSICIÓN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41248"/>
            <a:ext cx="1054577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0" i="0">
                <a:solidFill>
                  <a:srgbClr val="14161A"/>
                </a:solidFill>
                <a:latin typeface="Segoe UI Semilight"/>
              </a:rPr>
              <a:t>Alternativas y limitaciones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22960" y="1481328"/>
            <a:ext cx="10545775" cy="0"/>
          </a:xfrm>
          <a:prstGeom prst="line">
            <a:avLst/>
          </a:prstGeom>
          <a:ln w="12700">
            <a:solidFill>
              <a:srgbClr val="DE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822960" y="1920240"/>
            <a:ext cx="192627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 i="0">
                <a:solidFill>
                  <a:srgbClr val="8A8F98"/>
                </a:solidFill>
                <a:latin typeface="Segoe UI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32115" y="1920240"/>
            <a:ext cx="234810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 i="0">
                <a:solidFill>
                  <a:srgbClr val="8A8F98"/>
                </a:solidFill>
                <a:latin typeface="Segoe UI"/>
              </a:rPr>
              <a:t>PC Inspector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63101" y="1920240"/>
            <a:ext cx="572275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 i="0">
                <a:solidFill>
                  <a:srgbClr val="8A8F98"/>
                </a:solidFill>
                <a:latin typeface="Segoe UI"/>
              </a:rPr>
              <a:t>Estaciones comerciales · VisionMaster, Cognex, Keyence, Halcon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22960" y="2212848"/>
            <a:ext cx="10545775" cy="0"/>
          </a:xfrm>
          <a:prstGeom prst="line">
            <a:avLst/>
          </a:prstGeom>
          <a:ln w="12700">
            <a:solidFill>
              <a:srgbClr val="14161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22960" y="2359152"/>
            <a:ext cx="1907987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 i="0">
                <a:solidFill>
                  <a:srgbClr val="4A4F57"/>
                </a:solidFill>
                <a:latin typeface="Segoe UI"/>
              </a:rPr>
              <a:t>Licencia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32115" y="2359152"/>
            <a:ext cx="232981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1" i="0">
                <a:solidFill>
                  <a:srgbClr val="14161A"/>
                </a:solidFill>
                <a:latin typeface="Segoe UI"/>
              </a:rPr>
              <a:t>Sin coste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63101" y="2359152"/>
            <a:ext cx="570446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 i="0">
                <a:solidFill>
                  <a:srgbClr val="4A4F57"/>
                </a:solidFill>
                <a:latin typeface="Segoe UI"/>
              </a:rPr>
              <a:t>Miles a decenas de miles de euros por puesto, más runtime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822960" y="2743200"/>
            <a:ext cx="10545775" cy="0"/>
          </a:xfrm>
          <a:prstGeom prst="line">
            <a:avLst/>
          </a:prstGeom>
          <a:ln w="9525">
            <a:solidFill>
              <a:srgbClr val="EBEC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822960" y="2834640"/>
            <a:ext cx="1907987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 i="0">
                <a:solidFill>
                  <a:srgbClr val="4A4F57"/>
                </a:solidFill>
                <a:latin typeface="Segoe UI"/>
              </a:rPr>
              <a:t>Hardware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32115" y="2834640"/>
            <a:ext cx="232981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1" i="0">
                <a:solidFill>
                  <a:srgbClr val="14161A"/>
                </a:solidFill>
                <a:latin typeface="Segoe UI"/>
              </a:rPr>
              <a:t>PC sin GPU y webcam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63101" y="2834640"/>
            <a:ext cx="570446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 i="0">
                <a:solidFill>
                  <a:srgbClr val="4A4F57"/>
                </a:solidFill>
                <a:latin typeface="Segoe UI"/>
              </a:rPr>
              <a:t>Cámara industrial, óptica y controlador propietarios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822960" y="3218688"/>
            <a:ext cx="10545775" cy="0"/>
          </a:xfrm>
          <a:prstGeom prst="line">
            <a:avLst/>
          </a:prstGeom>
          <a:ln w="9525">
            <a:solidFill>
              <a:srgbClr val="EBEC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822960" y="3310128"/>
            <a:ext cx="1907987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 i="0">
                <a:solidFill>
                  <a:srgbClr val="4A4F57"/>
                </a:solidFill>
                <a:latin typeface="Segoe UI"/>
              </a:rPr>
              <a:t>Imágenes de defectos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32115" y="3310128"/>
            <a:ext cx="232981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1" i="0">
                <a:solidFill>
                  <a:srgbClr val="14161A"/>
                </a:solidFill>
                <a:latin typeface="Segoe UI"/>
              </a:rPr>
              <a:t>No hacen falta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63101" y="3310128"/>
            <a:ext cx="570446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 i="0">
                <a:solidFill>
                  <a:srgbClr val="4A4F57"/>
                </a:solidFill>
                <a:latin typeface="Segoe UI"/>
              </a:rPr>
              <a:t>Sus módulos de aprendizaje profundo las piden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822960" y="3694176"/>
            <a:ext cx="10545775" cy="0"/>
          </a:xfrm>
          <a:prstGeom prst="line">
            <a:avLst/>
          </a:prstGeom>
          <a:ln w="9525">
            <a:solidFill>
              <a:srgbClr val="EBEC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822960" y="3785616"/>
            <a:ext cx="1907987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 i="0">
                <a:solidFill>
                  <a:srgbClr val="4A4F57"/>
                </a:solidFill>
                <a:latin typeface="Segoe UI"/>
              </a:rPr>
              <a:t>Despliegue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32115" y="3785616"/>
            <a:ext cx="232981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1" i="0">
                <a:solidFill>
                  <a:srgbClr val="14161A"/>
                </a:solidFill>
                <a:latin typeface="Segoe UI"/>
              </a:rPr>
              <a:t>Carpeta portable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63101" y="3785616"/>
            <a:ext cx="570446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 i="0">
                <a:solidFill>
                  <a:srgbClr val="4A4F57"/>
                </a:solidFill>
                <a:latin typeface="Segoe UI"/>
              </a:rPr>
              <a:t>Instalador con llave, o hardware dedicado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822960" y="4169664"/>
            <a:ext cx="10545775" cy="0"/>
          </a:xfrm>
          <a:prstGeom prst="line">
            <a:avLst/>
          </a:prstGeom>
          <a:ln w="9525">
            <a:solidFill>
              <a:srgbClr val="EBEC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822960" y="4261104"/>
            <a:ext cx="1907987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 i="0">
                <a:solidFill>
                  <a:srgbClr val="4A4F57"/>
                </a:solidFill>
                <a:latin typeface="Segoe UI"/>
              </a:rPr>
              <a:t>Soporte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932115" y="4261104"/>
            <a:ext cx="232981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1" i="0">
                <a:solidFill>
                  <a:srgbClr val="14161A"/>
                </a:solidFill>
                <a:latin typeface="Segoe UI"/>
              </a:rPr>
              <a:t>Ninguno por ahora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63101" y="4261104"/>
            <a:ext cx="570446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 i="0">
                <a:solidFill>
                  <a:srgbClr val="4A4F57"/>
                </a:solidFill>
                <a:latin typeface="Segoe UI"/>
              </a:rPr>
              <a:t>Red comercial de integradores y servicio técnico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822960" y="4645152"/>
            <a:ext cx="10545775" cy="0"/>
          </a:xfrm>
          <a:prstGeom prst="line">
            <a:avLst/>
          </a:prstGeom>
          <a:ln w="9525">
            <a:solidFill>
              <a:srgbClr val="EBEC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822960" y="4892040"/>
            <a:ext cx="1054577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 i="0">
                <a:solidFill>
                  <a:srgbClr val="8A8F98"/>
                </a:solidFill>
                <a:latin typeface="Segoe UI"/>
              </a:rPr>
              <a:t>LIMITACIONES CONOCIDAS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" y="5193792"/>
            <a:ext cx="14630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 i="0">
                <a:solidFill>
                  <a:srgbClr val="8A8F98"/>
                </a:solidFill>
                <a:latin typeface="Segoe UI"/>
              </a:rPr>
              <a:t>·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24128" y="5193792"/>
            <a:ext cx="103446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 i="0">
                <a:solidFill>
                  <a:srgbClr val="4A4F57"/>
                </a:solidFill>
                <a:latin typeface="Segoe UI"/>
              </a:rPr>
              <a:t>No corrige la distorsión de la lente: en ópticas angulares las medidas cerca del borde se estiran.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" y="5486400"/>
            <a:ext cx="14630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 i="0">
                <a:solidFill>
                  <a:srgbClr val="8A8F98"/>
                </a:solidFill>
                <a:latin typeface="Segoe UI"/>
              </a:rPr>
              <a:t>·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24128" y="5486400"/>
            <a:ext cx="103446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 i="0">
                <a:solidFill>
                  <a:srgbClr val="4A4F57"/>
                </a:solidFill>
                <a:latin typeface="Segoe UI"/>
              </a:rPr>
              <a:t>No tiene salida a PLC ni disparo por sensor: informa, pero no actúa sobre la línea.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2960" y="5779008"/>
            <a:ext cx="14630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 i="0">
                <a:solidFill>
                  <a:srgbClr val="8A8F98"/>
                </a:solidFill>
                <a:latin typeface="Segoe UI"/>
              </a:rPr>
              <a:t>·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24128" y="5779008"/>
            <a:ext cx="103446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 i="0">
                <a:solidFill>
                  <a:srgbClr val="4A4F57"/>
                </a:solidFill>
                <a:latin typeface="Segoe UI"/>
              </a:rPr>
              <a:t>El umbral de apariencia es estadístico; no está validado contra un lote de piezas defectuosas reales.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2960" y="6071616"/>
            <a:ext cx="14630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 i="0">
                <a:solidFill>
                  <a:srgbClr val="8A8F98"/>
                </a:solidFill>
                <a:latin typeface="Segoe UI"/>
              </a:rPr>
              <a:t>·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24128" y="6071616"/>
            <a:ext cx="103446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 i="0">
                <a:solidFill>
                  <a:srgbClr val="4A4F57"/>
                </a:solidFill>
                <a:latin typeface="Segoe UI"/>
              </a:rPr>
              <a:t>Con degradados de sombra fuertes, el umbral automático puede fallar y hay que fijarlo a mano.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2960" y="6400800"/>
            <a:ext cx="6400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8A8F98"/>
                </a:solidFill>
                <a:latin typeface="Segoe UI"/>
              </a:rPr>
              <a:t>PC Inspector · inspección visual industrial 2D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088575" y="6400800"/>
            <a:ext cx="12801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8A8F98"/>
                </a:solidFill>
                <a:latin typeface="Segoe U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6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256A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822960" y="548640"/>
            <a:ext cx="1054577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 i="0">
                <a:solidFill>
                  <a:srgbClr val="3987E5"/>
                </a:solidFill>
                <a:latin typeface="Segoe UI"/>
              </a:rPr>
              <a:t>SIGUIENTE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41248"/>
            <a:ext cx="1054577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0" i="0">
                <a:solidFill>
                  <a:srgbClr val="FFFFFF"/>
                </a:solidFill>
                <a:latin typeface="Segoe UI Semilight"/>
              </a:rPr>
              <a:t>Hoja de ruta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22960" y="1481328"/>
            <a:ext cx="10545775" cy="0"/>
          </a:xfrm>
          <a:prstGeom prst="line">
            <a:avLst/>
          </a:prstGeom>
          <a:ln w="12700">
            <a:solidFill>
              <a:srgbClr val="2E323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822960" y="1920240"/>
            <a:ext cx="324093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 i="0">
                <a:solidFill>
                  <a:srgbClr val="3987E5"/>
                </a:solidFill>
                <a:latin typeface="Segoe UI"/>
              </a:rPr>
              <a:t>PRÓXIMOS MESES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822960" y="2212848"/>
            <a:ext cx="3240938" cy="0"/>
          </a:xfrm>
          <a:prstGeom prst="line">
            <a:avLst/>
          </a:prstGeom>
          <a:ln w="12700">
            <a:solidFill>
              <a:srgbClr val="2E323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822960" y="2395728"/>
            <a:ext cx="305805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0">
                <a:solidFill>
                  <a:srgbClr val="B9BEC6"/>
                </a:solidFill>
                <a:latin typeface="Segoe UI"/>
              </a:rPr>
              <a:t>Iluminación difusa y fondo mate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816352"/>
            <a:ext cx="305805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0">
                <a:solidFill>
                  <a:srgbClr val="B9BEC6"/>
                </a:solidFill>
                <a:latin typeface="Segoe UI"/>
              </a:rPr>
              <a:t>Mapa de calor para explicar un 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236976"/>
            <a:ext cx="305805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0">
                <a:solidFill>
                  <a:srgbClr val="B9BEC6"/>
                </a:solidFill>
                <a:latin typeface="Segoe UI"/>
              </a:rPr>
              <a:t>Historial a CSV e informe por turno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657600"/>
            <a:ext cx="305805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0">
                <a:solidFill>
                  <a:srgbClr val="B9BEC6"/>
                </a:solidFill>
                <a:latin typeface="Segoe UI"/>
              </a:rPr>
              <a:t>Integración continua y firma digital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75378" y="1920240"/>
            <a:ext cx="324093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 i="0">
                <a:solidFill>
                  <a:srgbClr val="3987E5"/>
                </a:solidFill>
                <a:latin typeface="Segoe UI"/>
              </a:rPr>
              <a:t>SEIS A DOCE MESES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475378" y="2212848"/>
            <a:ext cx="3240938" cy="0"/>
          </a:xfrm>
          <a:prstGeom prst="line">
            <a:avLst/>
          </a:prstGeom>
          <a:ln w="12700">
            <a:solidFill>
              <a:srgbClr val="2E323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4475378" y="2395728"/>
            <a:ext cx="305805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0">
                <a:solidFill>
                  <a:srgbClr val="B9BEC6"/>
                </a:solidFill>
                <a:latin typeface="Segoe UI"/>
              </a:rPr>
              <a:t>Corrección de distorsión de lente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75378" y="2816352"/>
            <a:ext cx="305805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0">
                <a:solidFill>
                  <a:srgbClr val="B9BEC6"/>
                </a:solidFill>
                <a:latin typeface="Segoe UI"/>
              </a:rPr>
              <a:t>Segmentación adaptativa ante sombras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75378" y="3236976"/>
            <a:ext cx="305805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0">
                <a:solidFill>
                  <a:srgbClr val="B9BEC6"/>
                </a:solidFill>
                <a:latin typeface="Segoe UI"/>
              </a:rPr>
              <a:t>Umbral fijado por curva ROC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75378" y="3657600"/>
            <a:ext cx="305805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0">
                <a:solidFill>
                  <a:srgbClr val="B9BEC6"/>
                </a:solidFill>
                <a:latin typeface="Segoe UI"/>
              </a:rPr>
              <a:t>Disparo por sensor y salida a PLC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27796" y="1920240"/>
            <a:ext cx="324093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 i="0">
                <a:solidFill>
                  <a:srgbClr val="3987E5"/>
                </a:solidFill>
                <a:latin typeface="Segoe UI"/>
              </a:rPr>
              <a:t>MÁS ADELANTE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8127796" y="2212848"/>
            <a:ext cx="3240938" cy="0"/>
          </a:xfrm>
          <a:prstGeom prst="line">
            <a:avLst/>
          </a:prstGeom>
          <a:ln w="12700">
            <a:solidFill>
              <a:srgbClr val="2E323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8127796" y="2395728"/>
            <a:ext cx="305805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0">
                <a:solidFill>
                  <a:srgbClr val="B9BEC6"/>
                </a:solidFill>
                <a:latin typeface="Segoe UI"/>
              </a:rPr>
              <a:t>Banco de parches: localizar el fallo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27796" y="2816352"/>
            <a:ext cx="305805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0">
                <a:solidFill>
                  <a:srgbClr val="B9BEC6"/>
                </a:solidFill>
                <a:latin typeface="Segoe UI"/>
              </a:rPr>
              <a:t>Varias cámaras, veredicto combinado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27796" y="3236976"/>
            <a:ext cx="305805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0">
                <a:solidFill>
                  <a:srgbClr val="B9BEC6"/>
                </a:solidFill>
                <a:latin typeface="Segoe UI"/>
              </a:rPr>
              <a:t>Varias referencias por pieza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27796" y="3657600"/>
            <a:ext cx="305805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0">
                <a:solidFill>
                  <a:srgbClr val="B9BEC6"/>
                </a:solidFill>
                <a:latin typeface="Segoe UI"/>
              </a:rPr>
              <a:t>Traducción de la interfaz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822960" y="4892040"/>
            <a:ext cx="10545775" cy="0"/>
          </a:xfrm>
          <a:prstGeom prst="line">
            <a:avLst/>
          </a:prstGeom>
          <a:ln w="12700">
            <a:solidFill>
              <a:srgbClr val="2E323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822960" y="5138928"/>
            <a:ext cx="69494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Segoe UI Semilight"/>
              </a:rPr>
              <a:t>El producto está construido y en uso. Lo que queda por delante es la exactitud óptica, el acabado industrial y la validación en un taller real.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63840" y="5102352"/>
            <a:ext cx="1237366" cy="2660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B9BEC6"/>
                </a:solidFill>
                <a:latin typeface="Segoe UI"/>
              </a:rPr>
              <a:t>Estado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65798" y="5102352"/>
            <a:ext cx="2102937" cy="2660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Segoe UI"/>
              </a:rPr>
              <a:t>6 fases completadas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7863840" y="5394960"/>
            <a:ext cx="3504895" cy="0"/>
          </a:xfrm>
          <a:prstGeom prst="line">
            <a:avLst/>
          </a:prstGeom>
          <a:ln w="9525">
            <a:solidFill>
              <a:srgbClr val="2E323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7863840" y="5486400"/>
            <a:ext cx="1237366" cy="2660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B9BEC6"/>
                </a:solidFill>
                <a:latin typeface="Segoe UI"/>
              </a:rPr>
              <a:t>Verificación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65798" y="5486400"/>
            <a:ext cx="2102937" cy="2660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Segoe UI"/>
              </a:rPr>
              <a:t>969 pruebas automáticas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7863840" y="5779008"/>
            <a:ext cx="3504895" cy="0"/>
          </a:xfrm>
          <a:prstGeom prst="line">
            <a:avLst/>
          </a:prstGeom>
          <a:ln w="9525">
            <a:solidFill>
              <a:srgbClr val="2E323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7863840" y="5870448"/>
            <a:ext cx="1237366" cy="2660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B9BEC6"/>
                </a:solidFill>
                <a:latin typeface="Segoe UI"/>
              </a:rPr>
              <a:t>Desarrollo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265798" y="5870448"/>
            <a:ext cx="2102937" cy="2660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Segoe UI"/>
              </a:rPr>
              <a:t>213 commits desde julio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7863840" y="6163056"/>
            <a:ext cx="3504895" cy="0"/>
          </a:xfrm>
          <a:prstGeom prst="line">
            <a:avLst/>
          </a:prstGeom>
          <a:ln w="9525">
            <a:solidFill>
              <a:srgbClr val="2E323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