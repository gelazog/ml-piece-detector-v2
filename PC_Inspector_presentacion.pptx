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987E5"/>
                </a:solidFill>
                <a:latin typeface="Segoe UI"/>
              </a:rPr>
              <a:t>INSPECCIÓN VISUAL INDUSTRIAL 2D · 100 %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6800" b="0" i="0">
                <a:solidFill>
                  <a:srgbClr val="FFFFFF"/>
                </a:solidFill>
                <a:latin typeface="Segoe UI Light"/>
              </a:rPr>
              <a:t>PC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017520"/>
            <a:ext cx="8138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 i="0">
                <a:solidFill>
                  <a:srgbClr val="C3C2B7"/>
                </a:solidFill>
                <a:latin typeface="Segoe UI"/>
              </a:rPr>
              <a:t>Una PC, una webcam y la pieza buena como patrón. Mide, compara y da un veredicto OK/NG — sin nube, sin GPU y sin etiquetar un solo defecto.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4434840"/>
            <a:ext cx="10637215" cy="0"/>
          </a:xfrm>
          <a:prstGeom prst="line">
            <a:avLst/>
          </a:prstGeom>
          <a:ln w="12700">
            <a:solidFill>
              <a:srgbClr val="2C2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4709160"/>
            <a:ext cx="26593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Segoe UI Light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85232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C3C2B7"/>
                </a:solidFill>
                <a:latin typeface="Segoe UI"/>
              </a:rPr>
              <a:t>herramientas
de medición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6543" y="4709160"/>
            <a:ext cx="26593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Segoe UI Light"/>
              </a:rPr>
              <a:t>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6543" y="5285232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C3C2B7"/>
                </a:solidFill>
                <a:latin typeface="Segoe UI"/>
              </a:rPr>
              <a:t>pruebas
automáticas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4709160"/>
            <a:ext cx="26593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Segoe UI Light"/>
              </a:rPr>
              <a:t>0 €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5285232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C3C2B7"/>
                </a:solidFill>
                <a:latin typeface="Segoe UI"/>
              </a:rPr>
              <a:t>de licencia
de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5151" y="4709160"/>
            <a:ext cx="265930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Segoe UI Light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5151" y="5285232"/>
            <a:ext cx="229354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C3C2B7"/>
                </a:solidFill>
                <a:latin typeface="Segoe UI"/>
              </a:rPr>
              <a:t>conexión
a 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807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3C2B7"/>
                </a:solidFill>
                <a:latin typeface="Segoe UI"/>
              </a:rPr>
              <a:t>C++20 · Qt 6 Widgets · OpenCV · ONNX Runtime · SQLite   |  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Medir bien cuesta demasiado para quien más lo necesita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1874519"/>
            <a:ext cx="3362858" cy="2788920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41148" cy="2788920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88136" y="2112263"/>
            <a:ext cx="27959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La licencia cuesta más
que la serie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807207"/>
            <a:ext cx="279593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Una estación de visión comercial se mueve en miles a decenas de miles de euros por puesto, más runtime y mantenimiento. Un taller que inspecciona lotes cortos nunca la amortiza.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4418" y="1874519"/>
            <a:ext cx="3362858" cy="2788920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14418" y="1874519"/>
            <a:ext cx="41148" cy="2788920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25314" y="2112263"/>
            <a:ext cx="27959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El hardware es
propietario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5314" y="2807207"/>
            <a:ext cx="279593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Cámara industrial, óptica, controlador y a veces un dongle. La PC que ya está en el taller no sirve: hay que comprar la del fabricante.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1596" y="1874519"/>
            <a:ext cx="3362858" cy="2788920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051596" y="1874519"/>
            <a:ext cx="41148" cy="2788920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62492" y="2112263"/>
            <a:ext cx="279593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El aprendizaje profundo
pide defectos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2492" y="2807207"/>
            <a:ext cx="279593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Los módulos de deep learning necesitan cientos de ejemplos etiquetados, fallos incluidos — justo lo que una línea que funciona bien no tiene.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983480"/>
            <a:ext cx="10637215" cy="713232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88136" y="5038344"/>
            <a:ext cx="1001542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Consecuencia: se mide con calibre, a mano, el resultado depende de quién esté ese día, y no queda registro de nada.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Una PC, una webcam y la pieza buena como patrón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74519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1874519"/>
            <a:ext cx="4581144" cy="695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Se le enseña una pieza correcta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— teach-in, unas 30 muestras — y queda como referencia. No se etiqueta ni un defecto.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34817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734817"/>
            <a:ext cx="458114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Las cotas quedan ancladas a la pieza: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si llega girada o descentrada, se mueven con 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9369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393693"/>
            <a:ext cx="4581144" cy="695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Cada pieza recibe OK/NG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con el detalle de qué medida falló y por qué, más historial y estadísticas por día.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399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4253991"/>
            <a:ext cx="458114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Todo local.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Sin nube ni servidor: SQLite en un fichero junto al ejecutable.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12867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4912867"/>
            <a:ext cx="458114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Windows y Linux con un solo código,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en un paquete portable de ~178 MB que arranca sin instalar nada.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626607"/>
            <a:ext cx="4892040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5809487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Dónde encaja: </a:t>
            </a:r>
            <a:r>
              <a:rPr sz="1200" b="0" i="0">
                <a:solidFill>
                  <a:srgbClr val="52514E"/>
                </a:solidFill>
                <a:latin typeface="Segoe UI"/>
              </a:rPr>
              <a:t>PYME metalmecánica · taller de mecanizado · control de recepción de lotes · laboratorio y formación.</a:t>
            </a:r>
          </a:p>
        </p:txBody>
      </p:sp>
      <p:pic>
        <p:nvPicPr>
          <p:cNvPr id="17" name="Picture 16" descr="02_detecc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79"/>
            <a:ext cx="5715000" cy="370022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126480" y="5602171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Captura real: contorno, centro y eje detectados sobre una imagen abierta desde disco — el mismo camino que con la cámara en vivo.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El recorrido de un frame, de la cámara al veredicto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105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Visión clásica para localizar y medir. Una red congelada solo para comparar apariencia.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95728"/>
            <a:ext cx="2003084" cy="566928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24871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Captura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97480"/>
            <a:ext cx="17836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cámara · imagen · vídeo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07756" y="2679192"/>
            <a:ext cx="10058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935772" y="2395728"/>
            <a:ext cx="2003084" cy="566928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45500" y="24871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Zona de trabajo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5500" y="2697480"/>
            <a:ext cx="17836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recorte que sigue a la pieza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66288" y="2679192"/>
            <a:ext cx="10058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94305" y="2395728"/>
            <a:ext cx="2003084" cy="566928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04033" y="24871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Segmentación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4033" y="2697480"/>
            <a:ext cx="17836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Otsu + morfología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24821" y="2679192"/>
            <a:ext cx="10058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252837" y="2395728"/>
            <a:ext cx="2003084" cy="566928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62565" y="24871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Contorno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2565" y="2697480"/>
            <a:ext cx="17836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seguimiento de bordes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83353" y="2679192"/>
            <a:ext cx="10058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411370" y="2395728"/>
            <a:ext cx="2003084" cy="566928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21098" y="2487168"/>
            <a:ext cx="17836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Position Fixture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1098" y="2697480"/>
            <a:ext cx="17836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momentos de imagen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412912" y="2962656"/>
            <a:ext cx="0" cy="210312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95847" y="3172968"/>
            <a:ext cx="4317065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95847" y="3172968"/>
            <a:ext cx="0" cy="210312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587087" y="3383280"/>
            <a:ext cx="3017520" cy="566928"/>
          </a:xfrm>
          <a:prstGeom prst="rect">
            <a:avLst/>
          </a:prstGeom>
          <a:solidFill>
            <a:srgbClr val="CDE2FB"/>
          </a:solidFill>
          <a:ln w="9525">
            <a:solidFill>
              <a:srgbClr val="86B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15103" y="3474720"/>
            <a:ext cx="2761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Recorte canónico 256×256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5103" y="3685032"/>
            <a:ext cx="2761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Segoe UI"/>
              </a:rPr>
              <a:t>sin fondo, orientado por el fixture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5847" y="3950208"/>
            <a:ext cx="0" cy="22860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90975" y="4178808"/>
            <a:ext cx="480974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90975" y="4178808"/>
            <a:ext cx="0" cy="22860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00719" y="4178808"/>
            <a:ext cx="0" cy="22860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633575" y="4407408"/>
            <a:ext cx="4114800" cy="749808"/>
          </a:xfrm>
          <a:prstGeom prst="rect">
            <a:avLst/>
          </a:prstGeom>
          <a:solidFill>
            <a:srgbClr val="FCFCFB"/>
          </a:solidFill>
          <a:ln w="15875">
            <a:solidFill>
              <a:srgbClr val="256A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779879" y="4517136"/>
            <a:ext cx="3822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ABF"/>
                </a:solidFill>
                <a:latin typeface="Segoe UI"/>
              </a:rPr>
              <a:t>Rama apariencia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79879" y="4745736"/>
            <a:ext cx="3822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Segoe UI"/>
              </a:rPr>
              <a:t>embedding de 1280 dimensiones · similitud coseno contra la referencia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3319" y="4407408"/>
            <a:ext cx="4114800" cy="749808"/>
          </a:xfrm>
          <a:prstGeom prst="rect">
            <a:avLst/>
          </a:prstGeom>
          <a:solidFill>
            <a:srgbClr val="FCFCFB"/>
          </a:solidFill>
          <a:ln w="15875">
            <a:solidFill>
              <a:srgbClr val="256A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89623" y="4517136"/>
            <a:ext cx="38221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56ABF"/>
                </a:solidFill>
                <a:latin typeface="Segoe UI"/>
              </a:rPr>
              <a:t>Rama herramientas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9623" y="4745736"/>
            <a:ext cx="38221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52514E"/>
                </a:solidFill>
                <a:latin typeface="Segoe UI"/>
              </a:rPr>
              <a:t>32 herramientas ancladas al fixture · repartidas entre núcleos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690975" y="5157216"/>
            <a:ext cx="0" cy="22860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500719" y="5157216"/>
            <a:ext cx="0" cy="22860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90975" y="5385816"/>
            <a:ext cx="480974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95847" y="5385816"/>
            <a:ext cx="0" cy="22860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626967" y="5614416"/>
            <a:ext cx="4937760" cy="64008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773271" y="5715000"/>
            <a:ext cx="46451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Veredicto OK / NG  —  y por qué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73271" y="5961888"/>
            <a:ext cx="46451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C3C2B7"/>
                </a:solidFill>
                <a:latin typeface="Segoe UI"/>
              </a:rPr>
              <a:t>apariencia + herramientas + posición + recuento   →   SQLite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MEDIR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32 herramientas ancladas a la pieza, no a la imagen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74519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1874519"/>
            <a:ext cx="458114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Cinco familias: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figuras básicas, medición en línea, elementos construidos, GD&amp;T y piezas torneadas.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33395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533395"/>
            <a:ext cx="4581144" cy="695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El Caliper localiza los dos bordes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por perfil de intensidad y los refina a subpíxel. En la captura mide 50,0 px y propone la tolerancia ±10 % solo.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9369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393693"/>
            <a:ext cx="4581144" cy="897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GD&amp;T por zona mínima, no por mínimos cuadrados: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la norma define el ancho de la banda más estrecha. En un barrido, la zona mínima gana en 200 de 200 nubes de puntos.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5541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4455413"/>
            <a:ext cx="458114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La misma barra a 0°, 20°, 45°, 70° y 120°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da el mismo número — y hay pruebas automáticas que lo exigen.</a:t>
            </a:r>
          </a:p>
        </p:txBody>
      </p:sp>
      <p:pic>
        <p:nvPicPr>
          <p:cNvPr id="13" name="Picture 12" descr="04_calip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79"/>
            <a:ext cx="5715000" cy="3700220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126480" y="5602171"/>
            <a:ext cx="571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Cada herramienta explica en el panel qué mide y con qué parámetros; la medida y su tolerancia sugerida salen al dibujarla.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COMPARAR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Sin entrenar nada. Sin etiquetar un solo defecto.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47087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QUÉ SE HACE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0370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203703"/>
            <a:ext cx="5998464" cy="695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EfficientNet-Lite4 congelado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(~49 MB) convierte el recorte canónico en un embedding de 1280 dimensiones. Transfer learning sin ajuste fino.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400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3064001"/>
            <a:ext cx="599846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Detección de anomalías de una sola clase: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similitud coseno contra la referencia, con umbral en media − max(k·σ, 0,02).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22877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722877"/>
            <a:ext cx="599846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Aprendizaje incremental = algoritmo de Welford.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Cada pieza buena confirmada crea una versión nueva de la referencia; ninguna se borra.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8175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4381753"/>
            <a:ext cx="599846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Sin el modelo la aplicación no se cae: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degrada a inspección solo con herramientas, y lo dice.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847087"/>
            <a:ext cx="3824935" cy="3127248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00416" y="2075687"/>
            <a:ext cx="3203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QUÉ NO SE HACE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6" y="249631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03B3B"/>
                </a:solidFill>
                <a:latin typeface="Segoe UI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496311"/>
            <a:ext cx="2910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No se entrena ni se reentrena ninguna 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3008375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03B3B"/>
                </a:solidFill>
                <a:latin typeface="Segoe UI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3008375"/>
            <a:ext cx="2910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Ni YOLO, ni segmentación semántica.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0416" y="3520439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03B3B"/>
                </a:solidFill>
                <a:latin typeface="Segoe UI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520439"/>
            <a:ext cx="2910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Ni template matching por correlación.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416" y="4032503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03B3B"/>
                </a:solidFill>
                <a:latin typeface="Segoe UI"/>
              </a:rP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4032503"/>
            <a:ext cx="2910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Ni OCR.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0416" y="4544567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D03B3B"/>
                </a:solidFill>
                <a:latin typeface="Segoe UI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4544567"/>
            <a:ext cx="2910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52514E"/>
                </a:solidFill>
                <a:latin typeface="Segoe UI"/>
              </a:rPr>
              <a:t>Ni profundidad: una vista 2D no la contiene.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440680"/>
            <a:ext cx="10637215" cy="713232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88136" y="5495544"/>
            <a:ext cx="1001542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Es exactamente esa renuncia la que permite correr en una PC modesta, sin GPU y sin depender de un modelo propio que haya que mantener.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AUTOMATIZAR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«¿Cuánto mide esto?», contestado entero y de una vez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74519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1874519"/>
            <a:ext cx="508406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El contorno se descompone en rectas y arcos,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y de ahí salen las cotas que tienen sentido para esa forma concreta.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33395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533395"/>
            <a:ext cx="508406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Cada cota dice de dónde sale.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No hay números sin procedencia: la columna existe y está siempre rellena.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92271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192271"/>
            <a:ext cx="5084064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Se exportan a CSV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y se convierten en criterio OK/NG con un clic en «Vigilar estas cotas».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51147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256ABF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3851147"/>
            <a:ext cx="5084064" cy="695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Las cotas informativas van marcadas. </a:t>
            </a:r>
            <a:r>
              <a:rPr sz="1300" b="0" i="0">
                <a:solidFill>
                  <a:srgbClr val="52514E"/>
                </a:solidFill>
                <a:latin typeface="Segoe UI"/>
              </a:rPr>
              <a:t>Se descubrió porque 14 de 15 propuestas daban el mismo número sobre otra figura: un ángulo de 120,26° sobre un cuadrado.</a:t>
            </a:r>
          </a:p>
        </p:txBody>
      </p:sp>
      <p:pic>
        <p:nvPicPr>
          <p:cNvPr id="13" name="Picture 12" descr="03_med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59"/>
            <a:ext cx="5440680" cy="3946642"/>
          </a:xfrm>
          <a:prstGeom prst="rect">
            <a:avLst/>
          </a:prstGeom>
          <a:ln w="9525">
            <a:solidFill>
              <a:srgbClr val="E1E0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675120" y="5802873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Captura real sobre la pieza de muestra: 6 lados, perímetro 676,47 px, área 13.906,50 px², un agujero, y 15 cotas deducidas de la forma.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MADUREZ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No es un prototipo de fin de semana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83079"/>
            <a:ext cx="2339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0" i="0">
                <a:solidFill>
                  <a:srgbClr val="256ABF"/>
                </a:solidFill>
                <a:latin typeface="Segoe UI Light"/>
              </a:rPr>
              <a:t>213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86583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commits en 51 días,
del 2 de julio al 21 de agosto de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6543" y="1783079"/>
            <a:ext cx="2339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0" i="0">
                <a:solidFill>
                  <a:srgbClr val="256ABF"/>
                </a:solidFill>
                <a:latin typeface="Segoe UI Light"/>
              </a:rPr>
              <a:t>38.602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6543" y="2386583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líneas de código de producción
en 173 ficheros y 10 módulos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783079"/>
            <a:ext cx="2339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0" i="0">
                <a:solidFill>
                  <a:srgbClr val="256ABF"/>
                </a:solidFill>
                <a:latin typeface="Segoe UI Light"/>
              </a:rPr>
              <a:t>969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386583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pruebas automáticas
en 35 ficheros de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5151" y="1783079"/>
            <a:ext cx="2339263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000" b="0" i="0">
                <a:solidFill>
                  <a:srgbClr val="256ABF"/>
                </a:solidFill>
                <a:latin typeface="Segoe UI Light"/>
              </a:rPr>
              <a:t>0,72 :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5151" y="2386583"/>
            <a:ext cx="233926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líneas de prueba por línea de código:
el 42 % del C++ del repositorio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31012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52958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0B0B0B"/>
                </a:solidFill>
                <a:latin typeface="Segoe UI"/>
              </a:rPr>
              <a:t>Commits por semana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El pico de la semana 6 es la ronda de medición automática y GD&amp;T: cuatro herramientas de torno, descomposición del contorno y siete herramientas de tolerancia geométrica.</a:t>
            </a:r>
          </a:p>
        </p:txBody>
      </p:sp>
      <p:sp>
        <p:nvSpPr>
          <p:cNvPr id="15" name="Round Same Side Corner Rectangle 14"/>
          <p:cNvSpPr/>
          <p:nvPr/>
        </p:nvSpPr>
        <p:spPr>
          <a:xfrm>
            <a:off x="5442499" y="5292266"/>
            <a:ext cx="400182" cy="221566"/>
          </a:xfrm>
          <a:prstGeom prst="round2SameRect">
            <a:avLst>
              <a:gd name="adj1" fmla="val 2256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59619" y="5017946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egoe U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9619" y="557784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  <p:sp>
        <p:nvSpPr>
          <p:cNvPr id="18" name="Round Same Side Corner Rectangle 17"/>
          <p:cNvSpPr/>
          <p:nvPr/>
        </p:nvSpPr>
        <p:spPr>
          <a:xfrm>
            <a:off x="6212080" y="5181483"/>
            <a:ext cx="400182" cy="332349"/>
          </a:xfrm>
          <a:prstGeom prst="round2SameRect">
            <a:avLst>
              <a:gd name="adj1" fmla="val 1504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29200" y="4907163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egoe UI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9200" y="557784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21" name="Round Same Side Corner Rectangle 20"/>
          <p:cNvSpPr/>
          <p:nvPr/>
        </p:nvSpPr>
        <p:spPr>
          <a:xfrm>
            <a:off x="6981662" y="5137170"/>
            <a:ext cx="400182" cy="376662"/>
          </a:xfrm>
          <a:prstGeom prst="round2SameRect">
            <a:avLst>
              <a:gd name="adj1" fmla="val 1327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798782" y="486285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egoe UI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8782" y="557784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24" name="Round Same Side Corner Rectangle 23"/>
          <p:cNvSpPr/>
          <p:nvPr/>
        </p:nvSpPr>
        <p:spPr>
          <a:xfrm>
            <a:off x="7751244" y="4738351"/>
            <a:ext cx="400182" cy="775481"/>
          </a:xfrm>
          <a:prstGeom prst="round2SameRect">
            <a:avLst>
              <a:gd name="adj1" fmla="val 644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68364" y="4464031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egoe UI"/>
              </a:rPr>
              <a:t>35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8364" y="557784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27" name="Round Same Side Corner Rectangle 26"/>
          <p:cNvSpPr/>
          <p:nvPr/>
        </p:nvSpPr>
        <p:spPr>
          <a:xfrm>
            <a:off x="8520826" y="5181483"/>
            <a:ext cx="400182" cy="332349"/>
          </a:xfrm>
          <a:prstGeom prst="round2SameRect">
            <a:avLst>
              <a:gd name="adj1" fmla="val 1504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37946" y="4907163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egoe UI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7946" y="557784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30" name="Round Same Side Corner Rectangle 29"/>
          <p:cNvSpPr/>
          <p:nvPr/>
        </p:nvSpPr>
        <p:spPr>
          <a:xfrm>
            <a:off x="9290408" y="3785616"/>
            <a:ext cx="400182" cy="1728216"/>
          </a:xfrm>
          <a:prstGeom prst="round2SameRect">
            <a:avLst>
              <a:gd name="adj1" fmla="val 289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07528" y="3511296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egoe UI"/>
              </a:rPr>
              <a:t>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528" y="557784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33" name="Round Same Side Corner Rectangle 32"/>
          <p:cNvSpPr/>
          <p:nvPr/>
        </p:nvSpPr>
        <p:spPr>
          <a:xfrm>
            <a:off x="10059990" y="4605411"/>
            <a:ext cx="400182" cy="908421"/>
          </a:xfrm>
          <a:prstGeom prst="round2SameRect">
            <a:avLst>
              <a:gd name="adj1" fmla="val 550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877110" y="4331091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52514E"/>
                </a:solidFill>
                <a:latin typeface="Segoe UI"/>
              </a:rPr>
              <a:t>41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7110" y="557784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36" name="Round Same Side Corner Rectangle 35"/>
          <p:cNvSpPr/>
          <p:nvPr/>
        </p:nvSpPr>
        <p:spPr>
          <a:xfrm>
            <a:off x="10829572" y="5469519"/>
            <a:ext cx="400182" cy="44313"/>
          </a:xfrm>
          <a:prstGeom prst="round2SameRect">
            <a:avLst>
              <a:gd name="adj1" fmla="val 11283"/>
              <a:gd name="adj2" fmla="val 0"/>
            </a:avLst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646692" y="5195199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46692" y="5577840"/>
            <a:ext cx="76594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Segoe UI"/>
              </a:rPr>
              <a:t>8*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57800" y="5513832"/>
            <a:ext cx="615665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57800" y="5806440"/>
            <a:ext cx="6156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Semana desde el arranque (2 jul 2026)   ·   * semana en curso, 2 días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RENDIMIENTO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Medido dentro de la aplicación, no estimado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810512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Cronometraje por etapas, apagado por defecto: encendido no cuesta ni una llamada al reloj.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9864" y="2569464"/>
            <a:ext cx="0" cy="2322576"/>
          </a:xfrm>
          <a:prstGeom prst="line">
            <a:avLst/>
          </a:prstGeom>
          <a:ln w="15875">
            <a:solidFill>
              <a:srgbClr val="D03B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21024" y="2313432"/>
            <a:ext cx="20848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03B3B"/>
                </a:solidFill>
                <a:latin typeface="Segoe UI"/>
              </a:rPr>
              <a:t>33,3 ms = un frame a 30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4388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B0B0B"/>
                </a:solidFill>
                <a:latin typeface="Segoe UI"/>
              </a:rPr>
              <a:t>20 herramientas</a:t>
            </a:r>
          </a:p>
        </p:txBody>
      </p:sp>
      <p:sp>
        <p:nvSpPr>
          <p:cNvPr id="9" name="Round Same Side Corner Rectangle 8"/>
          <p:cNvSpPr/>
          <p:nvPr/>
        </p:nvSpPr>
        <p:spPr>
          <a:xfrm>
            <a:off x="2560320" y="2976372"/>
            <a:ext cx="3257735" cy="210312"/>
          </a:xfrm>
          <a:prstGeom prst="round2SameRect">
            <a:avLst>
              <a:gd name="adj1" fmla="val 1227"/>
              <a:gd name="adj2" fmla="val 0"/>
            </a:avLst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36927" y="2962656"/>
            <a:ext cx="8138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33,8 ms</a:t>
            </a:r>
          </a:p>
        </p:txBody>
      </p:sp>
      <p:sp>
        <p:nvSpPr>
          <p:cNvPr id="11" name="Round Same Side Corner Rectangle 10"/>
          <p:cNvSpPr/>
          <p:nvPr/>
        </p:nvSpPr>
        <p:spPr>
          <a:xfrm>
            <a:off x="2560320" y="3259836"/>
            <a:ext cx="877082" cy="210312"/>
          </a:xfrm>
          <a:prstGeom prst="round2SameRect">
            <a:avLst>
              <a:gd name="adj1" fmla="val 4560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56274" y="3246120"/>
            <a:ext cx="8138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9,1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0952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6300"/>
                </a:solidFill>
                <a:latin typeface="Segoe UI"/>
              </a:rPr>
              <a:t>3,72x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0188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B0B0B"/>
                </a:solidFill>
                <a:latin typeface="Segoe UI"/>
              </a:rPr>
              <a:t>10 herramientas</a:t>
            </a:r>
          </a:p>
        </p:txBody>
      </p:sp>
      <p:sp>
        <p:nvSpPr>
          <p:cNvPr id="15" name="Round Same Side Corner Rectangle 14"/>
          <p:cNvSpPr/>
          <p:nvPr/>
        </p:nvSpPr>
        <p:spPr>
          <a:xfrm>
            <a:off x="2560320" y="3662172"/>
            <a:ext cx="1387910" cy="210312"/>
          </a:xfrm>
          <a:prstGeom prst="round2SameRect">
            <a:avLst>
              <a:gd name="adj1" fmla="val 2882"/>
              <a:gd name="adj2" fmla="val 0"/>
            </a:avLst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067102" y="3648456"/>
            <a:ext cx="8138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14,4 ms</a:t>
            </a:r>
          </a:p>
        </p:txBody>
      </p:sp>
      <p:sp>
        <p:nvSpPr>
          <p:cNvPr id="17" name="Round Same Side Corner Rectangle 16"/>
          <p:cNvSpPr/>
          <p:nvPr/>
        </p:nvSpPr>
        <p:spPr>
          <a:xfrm>
            <a:off x="2560320" y="3945636"/>
            <a:ext cx="481913" cy="210312"/>
          </a:xfrm>
          <a:prstGeom prst="round2SameRect">
            <a:avLst>
              <a:gd name="adj1" fmla="val 8300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161105" y="3931920"/>
            <a:ext cx="8138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5,0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7810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6300"/>
                </a:solidFill>
                <a:latin typeface="Segoe UI"/>
              </a:rPr>
              <a:t>2,87x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75988"/>
            <a:ext cx="15819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0B0B0B"/>
                </a:solidFill>
                <a:latin typeface="Segoe UI"/>
              </a:rPr>
              <a:t>5 herramientas</a:t>
            </a:r>
          </a:p>
        </p:txBody>
      </p:sp>
      <p:sp>
        <p:nvSpPr>
          <p:cNvPr id="21" name="Round Same Side Corner Rectangle 20"/>
          <p:cNvSpPr/>
          <p:nvPr/>
        </p:nvSpPr>
        <p:spPr>
          <a:xfrm>
            <a:off x="2560320" y="4347972"/>
            <a:ext cx="665040" cy="210312"/>
          </a:xfrm>
          <a:prstGeom prst="round2SameRect">
            <a:avLst>
              <a:gd name="adj1" fmla="val 6014"/>
              <a:gd name="adj2" fmla="val 0"/>
            </a:avLst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44232" y="4334256"/>
            <a:ext cx="8138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6,9 ms</a:t>
            </a:r>
          </a:p>
        </p:txBody>
      </p:sp>
      <p:sp>
        <p:nvSpPr>
          <p:cNvPr id="23" name="Round Same Side Corner Rectangle 22"/>
          <p:cNvSpPr/>
          <p:nvPr/>
        </p:nvSpPr>
        <p:spPr>
          <a:xfrm>
            <a:off x="2560320" y="4631436"/>
            <a:ext cx="443360" cy="210312"/>
          </a:xfrm>
          <a:prstGeom prst="round2SameRect">
            <a:avLst>
              <a:gd name="adj1" fmla="val 9022"/>
              <a:gd name="adj2" fmla="val 0"/>
            </a:avLst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122552" y="4617720"/>
            <a:ext cx="81381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4,6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46684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06300"/>
                </a:solidFill>
                <a:latin typeface="Segoe UI"/>
              </a:rPr>
              <a:t>1,49x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5074920"/>
            <a:ext cx="274320" cy="118872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926080" y="502920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En serie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40" y="5074920"/>
            <a:ext cx="274320" cy="118872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43400" y="502920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Repartidas entre núcleos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87168"/>
            <a:ext cx="30019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OTRAS MEDIDAS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52928"/>
            <a:ext cx="3001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analyzeFrame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090672"/>
            <a:ext cx="3001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35,4 → 23,1 ms (1,53×) tras medir dónde se iba el tiempo.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39312"/>
            <a:ext cx="3001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Zona de trabajo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877056"/>
            <a:ext cx="3001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~13 → ~2 ms (6×) cuando la pieza ocupa una esquina.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425696"/>
            <a:ext cx="30019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Segoe UI"/>
              </a:rPr>
              <a:t>Escala px→mm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663440"/>
            <a:ext cx="3001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peor error 0,145 % en un barrido de 0,05 a 1,0 mm/px.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440680"/>
            <a:ext cx="10637215" cy="713232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88136" y="5495544"/>
            <a:ext cx="1001542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Y una medición que salió en contra: la escala de trabajo adaptativa prometía acelerar y dio 1,10×. Se retiró, y queda documentada igual — el criterio para creerse una cifra es el mismo tanto si conviene como si no.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POSICIÓN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Dónde gana, y dónde no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737359"/>
            <a:ext cx="18381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8310" y="1737359"/>
            <a:ext cx="27955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PC Inspector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76730" y="1737359"/>
            <a:ext cx="54548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Estaciones comerciales · VisionMaster, Cognex, Keyence, Halcon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048255"/>
            <a:ext cx="10637215" cy="0"/>
          </a:xfrm>
          <a:prstGeom prst="line">
            <a:avLst/>
          </a:prstGeom>
          <a:ln w="1270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176271"/>
            <a:ext cx="181990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Licencia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310" y="2176271"/>
            <a:ext cx="27772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0 €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6730" y="2176271"/>
            <a:ext cx="54365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Miles a decenas de miles de euros por puesto, más runtime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624327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724911"/>
            <a:ext cx="181990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310" y="2724911"/>
            <a:ext cx="27772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PC sin GPU + webcam USB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76730" y="2724911"/>
            <a:ext cx="54365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Cámara industrial, óptica y controlador propietarios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172967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273551"/>
            <a:ext cx="181990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Conexión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310" y="3273551"/>
            <a:ext cx="27772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Ninguna: todo 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6730" y="3273551"/>
            <a:ext cx="54365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También local, pero atado a su ecosistema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3721607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3822191"/>
            <a:ext cx="181990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Defectos etiquetados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310" y="3822191"/>
            <a:ext cx="27772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No hacen falta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6730" y="3822191"/>
            <a:ext cx="54365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Sus módulos de deep learning sí los piden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4270247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370831"/>
            <a:ext cx="181990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Despliegue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310" y="4370831"/>
            <a:ext cx="27772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.zip portable de ~178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6730" y="4370831"/>
            <a:ext cx="54365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Instalador con dongle, o hardware dedicado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4818887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77240" y="4892040"/>
            <a:ext cx="10637215" cy="868680"/>
          </a:xfrm>
          <a:prstGeom prst="rect">
            <a:avLst/>
          </a:prstGeom>
          <a:solidFill>
            <a:srgbClr val="F4F3E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77240" y="4892040"/>
            <a:ext cx="41148" cy="86868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88136" y="5047488"/>
            <a:ext cx="99971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Dónde pierde: </a:t>
            </a:r>
            <a:r>
              <a:rPr sz="1250" b="0" i="0">
                <a:solidFill>
                  <a:srgbClr val="52514E"/>
                </a:solidFill>
                <a:latin typeface="Segoe UI"/>
              </a:rPr>
              <a:t>sin corrección de distorsión de lente, sin salida a PLC ni disparo por sensor, óptica de webcam frente a telecéntrica, y sin soporte comercial, certificaciones ni red de integradores.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893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Las cifras de licencia son órdenes de magnitud del sector, no precios de catálogo.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Lo que sigue, ordenado por lo que aporta frente a lo que cuesta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1691639"/>
            <a:ext cx="3332378" cy="384048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6696" y="1773935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CORTO  ~3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285999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Iluminación difusa y fondo 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97479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el mayor salto de calidad, y no es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218687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Mapa de calor de diferencia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630167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el operador ve por qué la pieza es 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151375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Historial a CSV e informe por turno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562855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trazabilidad de verdad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5084063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Integración continua y ejecutable firmado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5495543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hoy se compila y prueba a mano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9658" y="1691639"/>
            <a:ext cx="3332378" cy="384048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49114" y="1773935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MEDIO  6–12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7946" y="2285999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Corrección de distorsión de lente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7946" y="2697479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la mejora de exactitud más seria que queda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7946" y="3218687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Segmentación adaptativa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7946" y="3630167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sobrevive a sombras sin cambiar de perfil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7946" y="4151375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Umbral por curva ROC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7946" y="4562855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con piezas malas reales, en vez de asumir 3σ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7946" y="5084063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Disparo por sensor y salida a PLC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7946" y="5495543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pasar de informar a actuar sobre la línea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2076" y="1691639"/>
            <a:ext cx="3332378" cy="384048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01532" y="1773935"/>
            <a:ext cx="29666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LARGO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0364" y="2285999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Banco de parches (PatchCore, PaDiM)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0364" y="2697479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localizar el defecto, no solo detectarlo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0364" y="3218687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Multi-cámara con veredicto combinado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0364" y="3630167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varias vistas de la misma pieza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0364" y="4151375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Múltiples referencias por pieza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0364" y="4562855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dos acabados o dos proveedores admisibles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0364" y="5084063"/>
            <a:ext cx="30580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Segoe UI"/>
              </a:rPr>
              <a:t>Traducciones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0364" y="5495543"/>
            <a:ext cx="305805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52514E"/>
                </a:solidFill>
                <a:latin typeface="Segoe UI"/>
              </a:rPr>
              <a:t>los textos ya van con tr(); faltan los ficheros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56ABF"/>
                </a:solidFill>
                <a:latin typeface="Segoe UI"/>
              </a:rPr>
              <a:t>HONESTIDAD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0B0B0B"/>
                </a:solidFill>
                <a:latin typeface="Segoe UI Light"/>
              </a:rPr>
              <a:t>Los riesgos, dichos en voz alta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645919"/>
            <a:ext cx="24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2728" y="1645919"/>
            <a:ext cx="34337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Riesgo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381" y="1645919"/>
            <a:ext cx="64121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98781"/>
                </a:solidFill>
                <a:latin typeface="Segoe UI"/>
              </a:rPr>
              <a:t>Mitigación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1956815"/>
            <a:ext cx="10637215" cy="0"/>
          </a:xfrm>
          <a:prstGeom prst="line">
            <a:avLst/>
          </a:prstGeom>
          <a:ln w="12700">
            <a:solidFill>
              <a:srgbClr val="0B0B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084831"/>
            <a:ext cx="224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2728" y="2084831"/>
            <a:ext cx="341548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Exactitud limitada por la óptica de webcam y la distorsión de lente sin corregir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9381" y="2084831"/>
            <a:ext cx="63939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Calibración con patrón de ajedrez a medio plazo. Se posiciona como control dimensional de taller, no como metrología certificada.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642615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743199"/>
            <a:ext cx="224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2728" y="2743199"/>
            <a:ext cx="341548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Falsos NG por iluminación variable: Otsu sufre con degradados de sombra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9381" y="2743199"/>
            <a:ext cx="63939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Iluminación difusa y fondo mate, de coste casi nulo, más los perfiles de detección por pieza que ya existen.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300983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401567"/>
            <a:ext cx="224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2728" y="3401567"/>
            <a:ext cx="341548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El umbral de anomalía es estadístico y no está validado contra defectos reales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9381" y="3401567"/>
            <a:ext cx="63939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k ya es configurable. Con un puñado de piezas malas etiquetadas se fija por curva ROC en vez de asumir 3σ.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3959351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4059935"/>
            <a:ext cx="224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2728" y="4059935"/>
            <a:ext cx="341548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No cierra el bucle con la línea: sin PLC ni disparo por sensor, informa pero no actúa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9381" y="4059935"/>
            <a:ext cx="63939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Hoy se posiciona como estación de verificación y control de recepción. La salida digital está en el roadmap medio.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4617719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718303"/>
            <a:ext cx="224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2728" y="4718303"/>
            <a:ext cx="341548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 i="0">
                <a:solidFill>
                  <a:srgbClr val="0B0B0B"/>
                </a:solidFill>
                <a:latin typeface="Segoe UI"/>
              </a:rPr>
              <a:t>Sin integración continua ni ejecutable firmado, un jefe de planta duda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9381" y="4718303"/>
            <a:ext cx="639390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Ambas en el horizonte corto. Mientras tanto, el paquete portable permite un piloto de riesgo bajo.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5276087"/>
            <a:ext cx="10637215" cy="0"/>
          </a:xfrm>
          <a:prstGeom prst="line">
            <a:avLst/>
          </a:prstGeom>
          <a:ln w="9525">
            <a:solidFill>
              <a:srgbClr val="E1E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77240" y="5349240"/>
            <a:ext cx="10637215" cy="713232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8136" y="5404104"/>
            <a:ext cx="10015423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Y lo que no conviene hacer: entrenar una red propia con las piezas de la línea —exige defectos etiquetados que no se tienen— y medir profundidad con esta cámara, que no es cuestión de software sino de hardware.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PC Inspector — inspección visual industrial offline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5655" y="63825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987E5"/>
                </a:solidFill>
                <a:latin typeface="Segoe UI"/>
              </a:rPr>
              <a:t>LA PETICIÓN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0" i="0">
                <a:solidFill>
                  <a:srgbClr val="FFFFFF"/>
                </a:solidFill>
                <a:latin typeface="Segoe UI Light"/>
              </a:rPr>
              <a:t>Qué compra el patrocinio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664208"/>
            <a:ext cx="10637215" cy="0"/>
          </a:xfrm>
          <a:prstGeom prst="line">
            <a:avLst/>
          </a:prstGeom>
          <a:ln w="12700">
            <a:solidFill>
              <a:srgbClr val="2C2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2148840"/>
            <a:ext cx="2453563" cy="32004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Light"/>
              </a:rPr>
              <a:t>Exactitud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52928"/>
            <a:ext cx="22706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C3C2B7"/>
                </a:solidFill>
                <a:latin typeface="Segoe UI"/>
              </a:rPr>
              <a:t>Calibración de lente y una óptica e iluminación adecuadas. Es la mejora de exactitud más seria pendiente, y la mitad es hardware barato.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123" y="2148840"/>
            <a:ext cx="2453563" cy="32004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05123" y="2395728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Light"/>
              </a:rPr>
              <a:t>Confianza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5123" y="2852928"/>
            <a:ext cx="22706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C3C2B7"/>
                </a:solidFill>
                <a:latin typeface="Segoe UI"/>
              </a:rPr>
              <a:t>Integración continua, ejecutable firmado e instalador. Hoy la verificación se hace a mano en la máquina de desarrollo.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148840"/>
            <a:ext cx="2453563" cy="32004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33007" y="2395728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Light"/>
              </a:rPr>
              <a:t>Planta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852928"/>
            <a:ext cx="22706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C3C2B7"/>
                </a:solidFill>
                <a:latin typeface="Segoe UI"/>
              </a:rPr>
              <a:t>Disparo por sensor y salida a PLC: el paso de informar a actuar sobre la línea, que es lo que convierte la demo en producto.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0891" y="2148840"/>
            <a:ext cx="2453563" cy="32004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60891" y="2395728"/>
            <a:ext cx="227068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Light"/>
              </a:rPr>
              <a:t>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0891" y="2852928"/>
            <a:ext cx="227068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C3C2B7"/>
                </a:solidFill>
                <a:latin typeface="Segoe UI"/>
              </a:rPr>
              <a:t>Un piloto real en taller, con piezas y defectos reales, para fijar el umbral por curva ROC en vez de asumir 3σ.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617720"/>
            <a:ext cx="10637215" cy="0"/>
          </a:xfrm>
          <a:prstGeom prst="line">
            <a:avLst/>
          </a:prstGeom>
          <a:ln w="12700">
            <a:solidFill>
              <a:srgbClr val="2C2C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864608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Segoe UI Light"/>
              </a:rPr>
              <a:t>Todo lo anterior está construido, medido y probado. Lo que falta no es la idea: es la validación en planta y el acabado industrial.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61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3C2B7"/>
                </a:solidFill>
                <a:latin typeface="Segoe UI"/>
              </a:rPr>
              <a:t>213 commits · 38.602 líneas · 969 pruebas · 32 herramientas · 0 € de licencia · 0 conexión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