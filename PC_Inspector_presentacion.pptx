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933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800" b="0" i="0" dirty="0">
                <a:solidFill>
                  <a:srgbClr val="FFFFFF"/>
                </a:solidFill>
                <a:latin typeface="Segoe UI Semilight"/>
              </a:rPr>
              <a:t>PC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4887"/>
            <a:ext cx="914400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 dirty="0" err="1">
                <a:solidFill>
                  <a:srgbClr val="B9BEC6"/>
                </a:solidFill>
                <a:latin typeface="Segoe UI"/>
              </a:rPr>
              <a:t>Inspección</a:t>
            </a:r>
            <a:r>
              <a:rPr sz="2000" b="0" i="0" dirty="0">
                <a:solidFill>
                  <a:srgbClr val="B9BEC6"/>
                </a:solidFill>
                <a:latin typeface="Segoe UI"/>
              </a:rPr>
              <a:t> visual industrial de </a:t>
            </a:r>
            <a:r>
              <a:rPr sz="2000" b="0" i="0" dirty="0" err="1">
                <a:solidFill>
                  <a:srgbClr val="B9BEC6"/>
                </a:solidFill>
                <a:latin typeface="Segoe UI"/>
              </a:rPr>
              <a:t>piezas</a:t>
            </a:r>
            <a:r>
              <a:rPr sz="2000" b="0" i="0" dirty="0">
                <a:solidFill>
                  <a:srgbClr val="B9BEC6"/>
                </a:solidFill>
                <a:latin typeface="Segoe UI"/>
              </a:rPr>
              <a:t> 2D</a:t>
            </a:r>
            <a:endParaRPr lang="es-MX" sz="2000" b="0" i="0" dirty="0">
              <a:solidFill>
                <a:srgbClr val="B9BEC6"/>
              </a:solidFill>
              <a:latin typeface="Segoe U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2000" dirty="0">
                <a:solidFill>
                  <a:srgbClr val="B9BEC6"/>
                </a:solidFill>
                <a:latin typeface="Segoe UI"/>
              </a:rPr>
              <a:t>Por Gerardo Lazcano Aguilar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2000" dirty="0" err="1">
                <a:solidFill>
                  <a:srgbClr val="B9BEC6"/>
                </a:solidFill>
                <a:latin typeface="Segoe UI"/>
              </a:rPr>
              <a:t>Robybam</a:t>
            </a:r>
            <a:r>
              <a:rPr lang="es-ES" sz="2000" dirty="0">
                <a:solidFill>
                  <a:srgbClr val="B9BEC6"/>
                </a:solidFill>
                <a:latin typeface="Segoe UI"/>
              </a:rPr>
              <a:t> Tijuana B.C.</a:t>
            </a:r>
            <a:endParaRPr sz="2000" b="0" i="0" dirty="0">
              <a:solidFill>
                <a:srgbClr val="B9BEC6"/>
              </a:solidFill>
              <a:latin typeface="Segoe UI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822960" y="3886200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133087"/>
            <a:ext cx="10058400" cy="568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B9BEC6"/>
                </a:solidFill>
                <a:latin typeface="Segoe UI"/>
              </a:rPr>
              <a:t>Aplicación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de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escritorio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para Windows y Linux. Mide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cotas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sobre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la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pieza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,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compara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su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aspecto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con el de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una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pieza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patrón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y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emite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un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veredicto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.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Funciona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 sin </a:t>
            </a:r>
            <a:r>
              <a:rPr sz="1400" b="0" i="0" dirty="0" err="1">
                <a:solidFill>
                  <a:srgbClr val="B9BEC6"/>
                </a:solidFill>
                <a:latin typeface="Segoe UI"/>
              </a:rPr>
              <a:t>conexión</a:t>
            </a:r>
            <a:r>
              <a:rPr sz="1400" b="0" i="0" dirty="0">
                <a:solidFill>
                  <a:srgbClr val="B9BEC6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MX" sz="1150" dirty="0">
                <a:solidFill>
                  <a:srgbClr val="B9BEC6"/>
                </a:solidFill>
                <a:latin typeface="Segoe UI"/>
              </a:rPr>
              <a:t>Mas de 7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herramientas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de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medición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  ·  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tolerancias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geométricas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GD&amp;T   ·  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comparación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de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apariencia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  ·   base de </a:t>
            </a:r>
            <a:r>
              <a:rPr sz="1150" b="0" i="0" dirty="0" err="1">
                <a:solidFill>
                  <a:srgbClr val="B9BEC6"/>
                </a:solidFill>
                <a:latin typeface="Segoe UI"/>
              </a:rPr>
              <a:t>datos</a:t>
            </a:r>
            <a:r>
              <a:rPr sz="1150" b="0" i="0" dirty="0">
                <a:solidFill>
                  <a:srgbClr val="B9BEC6"/>
                </a:solidFill>
                <a:latin typeface="Segoe UI"/>
              </a:rPr>
              <a:t>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A808A"/>
                </a:solidFill>
                <a:latin typeface="Segoe UI"/>
              </a:rPr>
              <a:t>C++20 · Qt 6 · OpenCV · ONNX Runtime · SQLite     Agosto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EL PRODUCTO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Descripción general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4846320" cy="1371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 dirty="0">
                <a:solidFill>
                  <a:srgbClr val="4A4F57"/>
                </a:solidFill>
                <a:latin typeface="Segoe UI"/>
              </a:rPr>
              <a:t>PC Inspector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convierte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una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PC con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una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cámara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en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un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puesto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de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verificación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dimensional. Se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registra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una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pieza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correcta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, se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dibujan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sobre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ella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las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cotas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a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controlar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y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cada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pieza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que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pase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por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la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cámara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recibe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un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veredicto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con el valor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medido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de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cada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50" b="0" i="0" dirty="0" err="1">
                <a:solidFill>
                  <a:srgbClr val="4A4F57"/>
                </a:solidFill>
                <a:latin typeface="Segoe UI"/>
              </a:rPr>
              <a:t>cota</a:t>
            </a:r>
            <a:r>
              <a:rPr sz="1350" b="0" i="0" dirty="0">
                <a:solidFill>
                  <a:srgbClr val="4A4F57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6981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9929" y="3296981"/>
            <a:ext cx="3489351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>
                <a:solidFill>
                  <a:srgbClr val="14161A"/>
                </a:solidFill>
                <a:latin typeface="Segoe UI"/>
              </a:rPr>
              <a:t>Cámara o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integrada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, imagen o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vídeo</a:t>
            </a:r>
            <a:endParaRPr sz="1200" b="0" i="0" dirty="0">
              <a:solidFill>
                <a:srgbClr val="14161A"/>
              </a:solidFill>
              <a:latin typeface="Segoe U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822960" y="3644453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735893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79929" y="3735893"/>
            <a:ext cx="3489351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14161A"/>
                </a:solidFill>
                <a:latin typeface="Segoe UI"/>
              </a:rPr>
              <a:t>Veredicto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y valor de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cada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cota</a:t>
            </a:r>
            <a:endParaRPr sz="1200" b="0" i="0" dirty="0">
              <a:solidFill>
                <a:srgbClr val="14161A"/>
              </a:solidFill>
              <a:latin typeface="Segoe UI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083365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174805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Unidades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9929" y="4174805"/>
            <a:ext cx="3489351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Píxeles, milímetros o centímetros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4522277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613717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Registro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9929" y="4613717"/>
            <a:ext cx="3489351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Historial con miniatura y estadísticas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961189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052629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79929" y="5052629"/>
            <a:ext cx="3489351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>
                <a:solidFill>
                  <a:srgbClr val="14161A"/>
                </a:solidFill>
                <a:latin typeface="Segoe UI"/>
              </a:rPr>
              <a:t>SQLite local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400101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491541"/>
            <a:ext cx="119237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Conexión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9929" y="5491541"/>
            <a:ext cx="3489351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14161A"/>
                </a:solidFill>
                <a:latin typeface="Segoe UI"/>
              </a:rPr>
              <a:t>Ninguna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: sin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nube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ni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servidor</a:t>
            </a:r>
            <a:endParaRPr sz="1200" b="0" i="0" dirty="0">
              <a:solidFill>
                <a:srgbClr val="14161A"/>
              </a:solidFill>
              <a:latin typeface="Segoe UI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839013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02_detecc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00784"/>
            <a:ext cx="5806440" cy="3759424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035040" y="5569936"/>
            <a:ext cx="5806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Vista de trabajo. El contorno detectado, el centro y el eje de la pieza se dibujan sobre la imagen en tiempo real.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Flujo de trabajo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Tres pasos. El primero se hace una vez por pieza; el tercero, una vez por unidad inspeccionada.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856" y="27432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346704"/>
            <a:ext cx="264962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Registrar la pieza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767328"/>
            <a:ext cx="264962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Se capturan unas 30 imágenes de una pieza correcta. El programa localiza el contorno, calcula el centro y el eje, y guarda la referencia.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0138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71034" y="27432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034" y="3346704"/>
            <a:ext cx="264962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Definir la plantilla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1034" y="3767328"/>
            <a:ext cx="264962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Sobre la pieza se dibujan las cotas y se fija la tolerancia de cada una. El programa sugiere ±10 % al trazarla.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08212" y="27432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8212" y="3346704"/>
            <a:ext cx="264962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Inspeccionar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8212" y="3767328"/>
            <a:ext cx="264962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Cada pieza nueva se mide con esa plantilla. El resultado, con su miniatura y sus valores, queda en el historial.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Una pieza puede tener varias plantillas —por ejemplo una por cara— y las plantillas se exportan a un fichero .json para copiarlas entre piezas o entre máquinas. La inspección puede lanzarse a mano o dejarse en automático a intervalo fijo.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CATÁLOGO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Herramientas de medición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2253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s-MX" sz="1300" dirty="0">
                <a:solidFill>
                  <a:srgbClr val="4A4F57"/>
                </a:solidFill>
                <a:latin typeface="Segoe UI"/>
              </a:rPr>
              <a:t>Mas de 7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herramientas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en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cinco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familias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.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Todas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se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trazan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sobre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la imagen y se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guardan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ancladas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a la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pieza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, con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su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A4F57"/>
                </a:solidFill>
                <a:latin typeface="Segoe UI"/>
              </a:rPr>
              <a:t>tolerancia</a:t>
            </a:r>
            <a:r>
              <a:rPr sz="1300" b="0" i="0" dirty="0">
                <a:solidFill>
                  <a:srgbClr val="4A4F57"/>
                </a:solidFill>
                <a:latin typeface="Segoe U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8110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Medición en línea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18110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La cota directa, la que aparece en un plano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0273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Caliper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6791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Círculo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Punto-Línea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Regla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Línea-Línea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2861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Ángulo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9379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Arco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5896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Holgura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2348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72348" y="2560320"/>
            <a:ext cx="18110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Figuras básicas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2348" y="2999232"/>
            <a:ext cx="18110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Qué forma tiene la pieza y qué hay dentro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2348" y="360273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Región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2348" y="386791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Blob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2348" y="413308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Blob poligonal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2348" y="4398264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Borde liso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2348" y="4663440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Simetría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2348" y="492861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Lados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2348" y="519379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Rebabas y mellas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1737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1737" y="2560320"/>
            <a:ext cx="18110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Máx./mín. y torneadas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1737" y="2999232"/>
            <a:ext cx="18110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Extremos y piezas de torno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1737" y="360273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Eje / Diámetro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1737" y="386791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Rosca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1737" y="413308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Engranaje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1737" y="4398264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Máx./mín.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1737" y="4663440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Chaflán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1737" y="492861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Radio de acuerdo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1737" y="519379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Ranura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1125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71125" y="2560320"/>
            <a:ext cx="18110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GD&amp;T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1125" y="2999232"/>
            <a:ext cx="18110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Tolerancias geométricas contra una referencia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1125" y="360273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Posición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1125" y="386791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Rectitud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1125" y="413308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Redondez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71125" y="4398264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Orientación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71125" y="4663440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Desviación de centros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71125" y="492861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Patrón de agujeros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1125" y="519379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Perfil de línea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20514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20514" y="2560320"/>
            <a:ext cx="18110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Construcciones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20514" y="2999232"/>
            <a:ext cx="18110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Elementos derivados que sirven de datum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0514" y="3602736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Punto construido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20514" y="3867912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Recta construida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20514" y="4133088"/>
            <a:ext cx="18110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Eje medio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Rectitud y redondez se calculan por zona mínima: el ancho de la banda —o del anillo— más estrecho que contiene los puntos, que es la definición de la norma. El ajuste por mínimos cuadrados devuelve siempre un valor igual o mayor, y rechazaría piezas buenas.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FUNDAMENTO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Anclaje a la pieza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4617720" cy="134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Las herramientas no se guardan en coordenadas de la imagen, sino en el sistema de coordenadas de la pieza: origen en su centro, eje X sobre su eje principal. Si la pieza llega girada o desplazada, las cotas se mueven con ella y el valor medido no cambia.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3557"/>
            <a:ext cx="14054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Verificación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2984" y="3333557"/>
            <a:ext cx="304769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 misma barra a 0°, 20°, 45°, 70° y 120° devuelve el mismo valor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3842573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934013"/>
            <a:ext cx="14054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Estabilización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2984" y="3934013"/>
            <a:ext cx="304769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Banda muerta, media exponencial o salto, según cuánto se mueva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443029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534469"/>
            <a:ext cx="14054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Piezas simétricas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2984" y="4534469"/>
            <a:ext cx="304769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Bajo un umbral de anisotropía el ángulo se congela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5043485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134925"/>
            <a:ext cx="14054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Rasgo distintivo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2984" y="5134925"/>
            <a:ext cx="304769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Un punto marcado por el operador resuelve la ambigüedad de 180°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643941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04_calip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00784"/>
            <a:ext cx="5897880" cy="3818627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943600" y="5629139"/>
            <a:ext cx="5897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Caliper trazado sobre el brazo vertical: localiza los dos bordes por perfil de intensidad, los refina a subpíxel y mide 50,0 px.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Medición automática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5120640" cy="11087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El botón «Medir pieza» descompone el contorno en tramos rectos y arcos y propone las cotas que corresponden a esa forma, sin que haya que dibujar nada. Es la vía rápida para una pieza nueva o para una verificación puntual.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2100"/>
            <a:ext cx="1576425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Qué devuelve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3977" y="3102100"/>
            <a:ext cx="337962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Perímetro, área, envolvente, agujeros, circularidad, tramos y arcos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3611116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702556"/>
            <a:ext cx="1576425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Cotas deducidas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3977" y="3702556"/>
            <a:ext cx="337962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Lados, ángulos, diámetros y radios propios de la forma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211572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303012"/>
            <a:ext cx="1576425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Procedencia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3977" y="4303012"/>
            <a:ext cx="337962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Cada cota indica de qué elemento del contorno sale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4812028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903468"/>
            <a:ext cx="1576425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Salida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3977" y="4903468"/>
            <a:ext cx="3379623" cy="438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14161A"/>
                </a:solidFill>
                <a:latin typeface="Segoe UI"/>
              </a:rPr>
              <a:t>Copiar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al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portapapeles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,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exportar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a CSV o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convertir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en</a:t>
            </a:r>
            <a:r>
              <a:rPr sz="1200" b="0" i="0" dirty="0">
                <a:solidFill>
                  <a:srgbClr val="14161A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4161A"/>
                </a:solidFill>
                <a:latin typeface="Segoe UI"/>
              </a:rPr>
              <a:t>criterio</a:t>
            </a:r>
            <a:endParaRPr sz="1200" b="0" i="0" dirty="0">
              <a:solidFill>
                <a:srgbClr val="14161A"/>
              </a:solidFill>
              <a:latin typeface="Segoe UI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412484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03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00784"/>
            <a:ext cx="5532120" cy="4012972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46520" y="5823484"/>
            <a:ext cx="5532120" cy="334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dirty="0" err="1">
                <a:solidFill>
                  <a:srgbClr val="8A8F98"/>
                </a:solidFill>
                <a:latin typeface="Segoe UI"/>
              </a:rPr>
              <a:t>Resultado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sobre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la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pieza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de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muestra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polígono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de 6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lados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,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perímetro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px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,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área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px², un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agujero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y 15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cotas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8A8F98"/>
                </a:solidFill>
                <a:latin typeface="Segoe UI"/>
              </a:rPr>
              <a:t>deducidas</a:t>
            </a:r>
            <a:r>
              <a:rPr sz="950" b="0" i="0" dirty="0">
                <a:solidFill>
                  <a:srgbClr val="8A8F98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Comparación de apariencia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Además de las cotas, el programa compara el aspecto de la pieza con el de la referencia. Cubre lo que no se puede acotar: manchas, marcas, falta de acabado, piezas cambiadas.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88732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4873" y="2331720"/>
            <a:ext cx="3983127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EfficientNet-Lite4 en ONNX Runtime, 49 MB, sin reentrenar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840736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932176"/>
            <a:ext cx="1887321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Descriptor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4873" y="2932176"/>
            <a:ext cx="3983127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Vector de 1.280 dimensiones por pieza, normalizado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79648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371088"/>
            <a:ext cx="188732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Entrada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4873" y="3371088"/>
            <a:ext cx="3983127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Recorte de 256×256 sin fondo, ya orientado por el fixture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880104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971544"/>
            <a:ext cx="188732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Criterio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4873" y="3971544"/>
            <a:ext cx="3983127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Similitud coseno contra la referencia; umbral en media − max(k·σ, 0,02)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480560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572000"/>
            <a:ext cx="188732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Ajuste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4873" y="4572000"/>
            <a:ext cx="3983127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k configurable, 3 por defecto: más bajo, más estricto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081016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406640" y="2267712"/>
            <a:ext cx="3962095" cy="3063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17536" y="2487168"/>
            <a:ext cx="33403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4161A"/>
                </a:solidFill>
                <a:latin typeface="Segoe UI"/>
              </a:rPr>
              <a:t>Sin imágenes de piezas defectuosas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2834640"/>
            <a:ext cx="3340303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El sistema solo ve piezas correctas. La referencia se calcula a partir de ellas y se actualiza con cada pieza confirmada, conservando las versiones anteriores.
No hay entrenamiento ni reentrenamiento: el modelo va congelado y se usa solo como extractor de características.
Si el modelo no está disponible, la inspección sigue funcionando con las herramientas geométricas.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545775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8A8F98"/>
                </a:solidFill>
                <a:latin typeface="Segoe UI"/>
              </a:rPr>
              <a:t>Enfoque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equivalente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al de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PaDiM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,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PatchCore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o SPADE del banco de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pruebas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MVTec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AD,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en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una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versión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ligera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: un vector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por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pieza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en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lugar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de un banco de parches, para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poder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sz="1050" b="0" i="0" dirty="0" err="1">
                <a:solidFill>
                  <a:srgbClr val="8A8F98"/>
                </a:solidFill>
                <a:latin typeface="Segoe UI"/>
              </a:rPr>
              <a:t>ejecutarse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 </a:t>
            </a:r>
            <a:r>
              <a:rPr lang="es-MX" sz="1050" b="0" i="0" dirty="0">
                <a:solidFill>
                  <a:srgbClr val="8A8F98"/>
                </a:solidFill>
                <a:latin typeface="Segoe UI"/>
              </a:rPr>
              <a:t>ligeramente</a:t>
            </a:r>
            <a:r>
              <a:rPr sz="1050" b="0" i="0" dirty="0">
                <a:solidFill>
                  <a:srgbClr val="8A8F98"/>
                </a:solidFill>
                <a:latin typeface="Segoe U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METROLOGÍA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Escala real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Tres formas de pasar de píxeles a milímetros, según lo que haya disponible en el puesto.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331720"/>
            <a:ext cx="290565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Objeto de referencia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74320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Se mide algo de tamaño conocido y se escribe su medida real. Directo y exacto en el plano de trabajo.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0138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16170" y="2331720"/>
            <a:ext cx="290565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Distancia y campo de visión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Modelo estenopeico a partir de la distancia de la cámara y su ángulo. Útil cuando no hay patrón a mano.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7316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331720"/>
            <a:ext cx="290565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Marcador ArUco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274320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Un marcador de lado conocido da la homografía del plano: corrige la perspectiva y se reajusta al acercar o alejar la cámara.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60520"/>
            <a:ext cx="15227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Vigencia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284" y="4160520"/>
            <a:ext cx="885845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 calibración queda ligada a la cámara y la resolución con las que se hizo; si cambia alguna, el programa avisa de que ha dejado de valer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72440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815840"/>
            <a:ext cx="15227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Exactitud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284" y="4815840"/>
            <a:ext cx="885845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Barrido de 0,05 a 1,0 mm/px con piezas de 80 a 800 px: peor error de ida y vuelta 0,145 %, la mayoría entre 0,00 y 0,05 %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37972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471160"/>
            <a:ext cx="152273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Límite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0284" y="5471160"/>
            <a:ext cx="8858451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Una sola cámara 2D no recupera profundidad. La escala vale en el plano de trabajo; medir a distinta altura exige estéreo o cámara de profundidad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603504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Puesta a punto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5760720" cy="8772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Todos los ajustes están en un único diálogo, repartidos en siete pestañas. No bloquea la ventana: se mueve un control y el efecto se ve en el vídeo al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2627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Cámara e imagen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42627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Brillo, contraste, ganancia, exposición, enfoque y resolución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26675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Detección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126675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Umbral, polaridad, suavizado, área mínima y máxima; perfiles con nombre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10723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Piezas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510723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Cuántas piezas se esperan en la imagen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94771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94771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Reparto de tiempo por etapas y zona de trabajo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78819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Escala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278819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Asistente de calibración px→mm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2867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Preferencias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662867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Intervalo de auto-inspección y valor de 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46915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Atajos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5046915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Tabla de atajos de teclado, editable</a:t>
            </a:r>
          </a:p>
        </p:txBody>
      </p:sp>
      <p:pic>
        <p:nvPicPr>
          <p:cNvPr id="20" name="Picture 19" descr="05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00784"/>
            <a:ext cx="3246120" cy="3881482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7772400" y="5691994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La página de detección explica qué hacer cuando las luces o las sombras arruinan el contorno automático.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Rendimiento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Medido dentro de la aplicación con el cronómetro por etapas, que va apagado por defecto.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568696" y="2615184"/>
            <a:ext cx="0" cy="2596896"/>
          </a:xfrm>
          <a:prstGeom prst="line">
            <a:avLst/>
          </a:prstGeom>
          <a:ln w="15875">
            <a:solidFill>
              <a:srgbClr val="D0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74136" y="2377440"/>
            <a:ext cx="21214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03B3B"/>
                </a:solidFill>
                <a:latin typeface="Segoe UI"/>
              </a:rPr>
              <a:t>33,3 ms = un frame a 30 fps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4972"/>
            <a:ext cx="15819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20 herramientas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3067812"/>
            <a:ext cx="3007140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32052" y="3058668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33,8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3351276"/>
            <a:ext cx="809614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34526" y="3342132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9,1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958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3,72×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82212"/>
            <a:ext cx="15819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10 herramientas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3845052"/>
            <a:ext cx="1281148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6060" y="3835908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14,4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4128516"/>
            <a:ext cx="444843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69755" y="4119372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5,0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9730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2,87×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59452"/>
            <a:ext cx="15819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5 herramientas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622292"/>
            <a:ext cx="613883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38795" y="4613148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6,9 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40" y="4905756"/>
            <a:ext cx="409255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34167" y="4896612"/>
            <a:ext cx="81381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4,6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75030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1,49×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06040" y="5394960"/>
            <a:ext cx="256032" cy="109728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53512" y="534924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Segoe UI"/>
              </a:rPr>
              <a:t>En serie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40" y="5394960"/>
            <a:ext cx="256032" cy="109728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5112" y="534924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Segoe UI"/>
              </a:rPr>
              <a:t>Repartidas entre núcleos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60136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Coste de ejecutar las herramientas sobre un frame de 900×600, con herramientas de tamaño real.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2560320"/>
            <a:ext cx="1300441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Análisis de un frame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8913" y="2560320"/>
            <a:ext cx="1719822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35,4 → 23,1 ms tras optimizar (2560×1440)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183880" y="3163188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83880" y="3254628"/>
            <a:ext cx="1300441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Zona de trabajo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8913" y="3254628"/>
            <a:ext cx="1719822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~13 → ~2 ms si la pieza ocupa una esquina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83880" y="3857496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83880" y="3948936"/>
            <a:ext cx="1300441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Contar 6 piezas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913" y="3948936"/>
            <a:ext cx="1719822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11,2 ms frente a 7,5 ms quedándose con una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83880" y="4551804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83880" y="4643244"/>
            <a:ext cx="1300441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Extracción del descriptor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913" y="4643244"/>
            <a:ext cx="1719822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menos de 220 ms, incluida la carga de sesión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83880" y="5246112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83880" y="5337552"/>
            <a:ext cx="1300441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Sin tarjeta gráfica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8913" y="5337552"/>
            <a:ext cx="1719822" cy="456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todo el proceso corre en CPU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83880" y="5940420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Datos y trazabilidad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Todo queda en un fichero SQLite junto al ejecutable. No hay servidor que instalar ni servicio que mantener.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514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Esquema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2694" y="2286000"/>
            <a:ext cx="386242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Diez tablas, versión 10, con migración automática al abrir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795016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86456"/>
            <a:ext cx="182514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Por pieza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2694" y="2886456"/>
            <a:ext cx="386242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Referencias versionadas, miniatura, orientación, tolerancias y plantillas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395472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86912"/>
            <a:ext cx="182514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Por inspección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2694" y="3486912"/>
            <a:ext cx="386242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Veredicto, motivo, valor de cada cota, miniatura y fecha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95928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87368"/>
            <a:ext cx="182514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Estadísticas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2694" y="4087368"/>
            <a:ext cx="386242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Recuento OK/NG por día, consultable desde el historial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596384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687824"/>
            <a:ext cx="182514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Integridad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694" y="4687824"/>
            <a:ext cx="3862426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Claves foráneas activas, modo WAL y espera ante bloqueo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196840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78040" y="2286000"/>
            <a:ext cx="4190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SALIDA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670048"/>
            <a:ext cx="41906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Historial y medidas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907792"/>
            <a:ext cx="4190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310128"/>
            <a:ext cx="41906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Plantillas de 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547872"/>
            <a:ext cx="4190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.json, entre piezas o máquinas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950208"/>
            <a:ext cx="41906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Configuración de la máquina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190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.json, para clonar la puesta a punto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590288"/>
            <a:ext cx="41906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Aplicación completa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4828032"/>
            <a:ext cx="4190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.zip portable de ~178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Las versiones anteriores de una referencia nunca se borran: se puede reconstruir con qué patrón se aceptó cada pieza y en qué fecha.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FICHA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Requisitos e instalación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011680"/>
            <a:ext cx="1618433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5985" y="2011680"/>
            <a:ext cx="3169822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Windows 10 o superior, y Linux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359152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450592"/>
            <a:ext cx="161843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Procesador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5985" y="2450592"/>
            <a:ext cx="316982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Cualquier CPU x86-64 reciente; usa todos los núcleos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2959608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3051048"/>
            <a:ext cx="1618433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Tarjeta gráfica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985" y="3051048"/>
            <a:ext cx="3169822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No necesaria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3398520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3489960"/>
            <a:ext cx="161843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Cámara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5985" y="3489960"/>
            <a:ext cx="316982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USB o integrada; también sirve una imagen o un vídeo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998976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4090416"/>
            <a:ext cx="1618433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Conexión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5985" y="4090416"/>
            <a:ext cx="3169822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No necesaria en ningún momento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437888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5887" y="2011680"/>
            <a:ext cx="161843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Instalación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912" y="2011680"/>
            <a:ext cx="316982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Descomprimir y ejecutar. No modifica el registro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15887" y="2520696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5887" y="2612136"/>
            <a:ext cx="161843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Tamaño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8912" y="2612136"/>
            <a:ext cx="316982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~178 MB, de los cuales 49 MB son el modelo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5887" y="3121152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5887" y="3212592"/>
            <a:ext cx="1618433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Dependencias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8912" y="3212592"/>
            <a:ext cx="3169822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Ninguna externa: van dentro del paquete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15887" y="3560064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15887" y="3651504"/>
            <a:ext cx="1618433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Idioma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8912" y="3651504"/>
            <a:ext cx="3169822" cy="47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Español; los textos están preparados para traducirse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15887" y="4160520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15887" y="4251960"/>
            <a:ext cx="1618433" cy="28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Licencia del software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8912" y="4251960"/>
            <a:ext cx="3169822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s-MX" sz="1200" b="0" i="0" dirty="0">
                <a:solidFill>
                  <a:srgbClr val="14161A"/>
                </a:solidFill>
                <a:latin typeface="Segoe UI"/>
              </a:rPr>
              <a:t>N/A</a:t>
            </a:r>
            <a:endParaRPr sz="1200" b="0" i="0" dirty="0">
              <a:solidFill>
                <a:srgbClr val="14161A"/>
              </a:solidFill>
              <a:latin typeface="Segoe UI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6415887" y="4599432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22960" y="4846320"/>
            <a:ext cx="10545775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33856" y="5047488"/>
            <a:ext cx="992398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El paquete portable se verificó arrancando en un equipo sin el entorno de compilación instalado. El programa también funciona sin el modelo de apariencia: en ese caso inspecciona solo con las herramientas geométricas y lo indica en la barra de estado.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Alternativas y limitaciones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920240"/>
            <a:ext cx="19262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32115" y="1920240"/>
            <a:ext cx="234810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PC Inspector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3101" y="1920240"/>
            <a:ext cx="57227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Estaciones comerciales · VisionMaster, Cognex, Keyence, Halcon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212848"/>
            <a:ext cx="10545775" cy="0"/>
          </a:xfrm>
          <a:prstGeom prst="line">
            <a:avLst/>
          </a:prstGeom>
          <a:ln w="12700">
            <a:solidFill>
              <a:srgbClr val="1416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59152"/>
            <a:ext cx="1907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Licencia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115" y="2359152"/>
            <a:ext cx="2329818" cy="201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s-MX" sz="1200" b="1" i="0" dirty="0">
                <a:solidFill>
                  <a:srgbClr val="14161A"/>
                </a:solidFill>
                <a:latin typeface="Segoe UI"/>
              </a:rPr>
              <a:t>N/A</a:t>
            </a:r>
            <a:endParaRPr sz="1200" b="1" i="0" dirty="0">
              <a:solidFill>
                <a:srgbClr val="14161A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3101" y="2359152"/>
            <a:ext cx="57044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Miles a decenas de miles de euros por puesto, más runtime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74320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2834640"/>
            <a:ext cx="1907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2834640"/>
            <a:ext cx="232981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PC sin GPU y webcam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3101" y="2834640"/>
            <a:ext cx="57044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Cámara industrial, óptica y controlador propietarios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218688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3310128"/>
            <a:ext cx="1907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Imágenes de defectos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2115" y="3310128"/>
            <a:ext cx="232981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No hacen falta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3101" y="3310128"/>
            <a:ext cx="57044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Sus módulos de aprendizaje profundo las piden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3694176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3785616"/>
            <a:ext cx="1907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Despliegue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2115" y="3785616"/>
            <a:ext cx="232981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Carpeta portable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3101" y="3785616"/>
            <a:ext cx="57044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Instalador con llave, o hardware dedicado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4169664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4261104"/>
            <a:ext cx="1907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Soporte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2115" y="4261104"/>
            <a:ext cx="232981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Ninguno por ahora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3101" y="4261104"/>
            <a:ext cx="57044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Red comercial de integradores y servicio técnico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4645152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2960" y="4892040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LIMITACIONES CONOCIDAS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193792"/>
            <a:ext cx="146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5193792"/>
            <a:ext cx="10344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No corrige la distorsión de la lente: en ópticas angulares las medidas cerca del borde se estiran.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486400"/>
            <a:ext cx="146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486400"/>
            <a:ext cx="10344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No tiene salida a PLC ni disparo por sensor: informa, pero no actúa sobre la línea.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779008"/>
            <a:ext cx="146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779008"/>
            <a:ext cx="10344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El umbral de apariencia es estadístico; no está validado contra un lote de piezas defectuosas reales.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071616"/>
            <a:ext cx="146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6071616"/>
            <a:ext cx="10344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Con degradados de sombra fuertes, el umbral automático puede fallar y hay que fijarlo a mano.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SIGUIENTE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FFFFFF"/>
                </a:solidFill>
                <a:latin typeface="Segoe UI Semilight"/>
              </a:rPr>
              <a:t>Hoja de ruta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920240"/>
            <a:ext cx="32409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PRÓXIMOS MESES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395728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Iluminación difusa y fondo 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16352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Mapa de calor para explicar un 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36976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Historial a CSV e informe por turno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058058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B9BEC6"/>
                </a:solidFill>
                <a:latin typeface="Segoe UI"/>
              </a:rPr>
              <a:t>Integración</a:t>
            </a:r>
            <a:r>
              <a:rPr sz="1200" b="0" i="0" dirty="0">
                <a:solidFill>
                  <a:srgbClr val="B9BEC6"/>
                </a:solidFill>
                <a:latin typeface="Segoe UI"/>
              </a:rPr>
              <a:t> continua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1920240"/>
            <a:ext cx="32409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SEIS A DOCE MESES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5378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75378" y="2395728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Corrección de distorsión de lente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378" y="2816352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Segmentación adaptativa ante sombras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5378" y="3236976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Umbral fijado por curva ROC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657600"/>
            <a:ext cx="3058058" cy="20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B9BEC6"/>
                </a:solidFill>
                <a:latin typeface="Segoe UI"/>
              </a:rPr>
              <a:t>Disparo</a:t>
            </a:r>
            <a:r>
              <a:rPr sz="1200" b="0" i="0" dirty="0">
                <a:solidFill>
                  <a:srgbClr val="B9BEC6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B9BEC6"/>
                </a:solidFill>
                <a:latin typeface="Segoe UI"/>
              </a:rPr>
              <a:t>por</a:t>
            </a:r>
            <a:r>
              <a:rPr sz="1200" b="0" i="0" dirty="0">
                <a:solidFill>
                  <a:srgbClr val="B9BEC6"/>
                </a:solidFill>
                <a:latin typeface="Segoe UI"/>
              </a:rPr>
              <a:t> 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1920240"/>
            <a:ext cx="32409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MÁS ADELANTE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27796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27796" y="2395728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Banco de parches: localizar el fallo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7796" y="2816352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Varias cámaras, veredicto combinado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7796" y="3236976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Varias referencias por pieza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6" y="365760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Traducción de la interfaz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4892040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5138928"/>
            <a:ext cx="6949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 Semilight"/>
              </a:rPr>
              <a:t>El producto está construido y en uso. Lo que queda por delante es la exactitud óptica, el acabado industrial y la validación en un taller real.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102352"/>
            <a:ext cx="1237366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Estado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5798" y="5102352"/>
            <a:ext cx="2102937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6 fases completadas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63840" y="5394960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863840" y="5486400"/>
            <a:ext cx="1237366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Verificación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5798" y="5486400"/>
            <a:ext cx="2102937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969 pruebas automáticas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779008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863840" y="5870448"/>
            <a:ext cx="1237366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Desarrollo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798" y="5870448"/>
            <a:ext cx="2102937" cy="266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213 commits desde julio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63840" y="6163056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2123</Words>
  <Application>Microsoft Office PowerPoint</Application>
  <PresentationFormat>Panorámica</PresentationFormat>
  <Paragraphs>306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Lazcano Aguilar Gerardo</cp:lastModifiedBy>
  <cp:revision>3</cp:revision>
  <dcterms:created xsi:type="dcterms:W3CDTF">2013-01-27T09:14:16Z</dcterms:created>
  <dcterms:modified xsi:type="dcterms:W3CDTF">2026-08-22T04:39:23Z</dcterms:modified>
  <cp:category/>
</cp:coreProperties>
</file>